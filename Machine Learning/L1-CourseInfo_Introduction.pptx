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95" r:id="rId3"/>
    <p:sldId id="296" r:id="rId4"/>
    <p:sldId id="305" r:id="rId5"/>
    <p:sldId id="306" r:id="rId6"/>
    <p:sldId id="297" r:id="rId7"/>
    <p:sldId id="298" r:id="rId8"/>
    <p:sldId id="299" r:id="rId9"/>
    <p:sldId id="307" r:id="rId10"/>
    <p:sldId id="308" r:id="rId11"/>
    <p:sldId id="300" r:id="rId12"/>
    <p:sldId id="318" r:id="rId13"/>
    <p:sldId id="301" r:id="rId14"/>
    <p:sldId id="303" r:id="rId15"/>
    <p:sldId id="304" r:id="rId16"/>
    <p:sldId id="277" r:id="rId17"/>
    <p:sldId id="309" r:id="rId18"/>
    <p:sldId id="310" r:id="rId19"/>
    <p:sldId id="291" r:id="rId20"/>
    <p:sldId id="292" r:id="rId21"/>
    <p:sldId id="293" r:id="rId22"/>
    <p:sldId id="294" r:id="rId23"/>
    <p:sldId id="311" r:id="rId24"/>
    <p:sldId id="321" r:id="rId25"/>
    <p:sldId id="315" r:id="rId26"/>
    <p:sldId id="313" r:id="rId27"/>
    <p:sldId id="314" r:id="rId28"/>
    <p:sldId id="316" r:id="rId29"/>
    <p:sldId id="319" r:id="rId30"/>
    <p:sldId id="317" r:id="rId31"/>
    <p:sldId id="320" r:id="rId32"/>
    <p:sldId id="322" r:id="rId33"/>
    <p:sldId id="257" r:id="rId34"/>
    <p:sldId id="258" r:id="rId35"/>
    <p:sldId id="259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84"/>
    <p:restoredTop sz="93813"/>
  </p:normalViewPr>
  <p:slideViewPr>
    <p:cSldViewPr snapToGrid="0">
      <p:cViewPr varScale="1">
        <p:scale>
          <a:sx n="80" d="100"/>
          <a:sy n="80" d="100"/>
        </p:scale>
        <p:origin x="4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3EB0A4-392B-7A41-8D3A-AD5CA5AA47D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DAF33-15EB-A34D-A8C7-26D153C4B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681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DAF33-15EB-A34D-A8C7-26D153C4B2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096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73758-187B-4894-968C-F7DDB69FE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89574C-B073-467D-B9C2-766F1884B0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C8611-8B39-4A21-A958-8AA3DD5C2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F8F2-80E1-4DCA-918B-67472F812FE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8B50E-F7A3-45B8-96BD-DBB24BE20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FCD16-7549-480E-ABAF-C7D2E33ED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6ECB7-65DC-411A-B3C5-A0DDC98A9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745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05E56-1207-4C69-A018-0244CD11F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36D86-7A05-41EA-A351-61528386D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4EE09-F410-4747-8671-31E133351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F8F2-80E1-4DCA-918B-67472F812FE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F5400-1583-4784-8225-DE21502E2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90017-054C-42AE-AFE7-7D5513D33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6ECB7-65DC-411A-B3C5-A0DDC98A9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263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F110E-D533-42ED-B4DC-CF178711B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45CD3-BA51-45A9-BC31-12AACDE6A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E3840-9F60-44E0-AB00-23E1F67DB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F8F2-80E1-4DCA-918B-67472F812FE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F9E03-1401-4124-A825-C4795E8BC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888BE-02F5-41F1-9F04-4EF998928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6ECB7-65DC-411A-B3C5-A0DDC98A9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031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9E3B1-E765-4287-B372-0A2F3BA8E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3D6F8-9989-4A72-B301-0C9C92FA0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C08A5-B8BB-4546-9C50-00D8498B0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A86DE-5223-4933-A3EB-895CFE075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F8F2-80E1-4DCA-918B-67472F812FE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EBA57-D50D-4CD9-8D71-8EF7ED61B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4588B8-F164-4490-A37B-FFBD14917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6ECB7-65DC-411A-B3C5-A0DDC98A9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8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96EF2-1B9E-4BDF-B115-7B1EF8C27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07AB4-A4E4-47F8-8D82-F3C9B89FF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7AA7BF-8312-4249-AA2D-1ECDBAD542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F1C5FF-D1F0-49E0-AA64-E4F32F54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1D2E2E-FDD1-4F56-AF67-3C230858AF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5B69C8-70B2-4AC0-9BC4-E9B75AEE2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F8F2-80E1-4DCA-918B-67472F812FE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43A7A2-7B94-4084-BD72-EA2993C47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B33184-4880-420D-B459-48ED3A93B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6ECB7-65DC-411A-B3C5-A0DDC98A9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074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2F65-DD3C-4161-81A9-F0178348D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180DF5-76A0-4C64-9BBB-6FCE695CA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F8F2-80E1-4DCA-918B-67472F812FE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55E409-C6E7-4451-BFA8-0CFC5C36F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3DF611-0334-4E3A-AD6F-3478A74C5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6ECB7-65DC-411A-B3C5-A0DDC98A9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018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BB53B-13DC-477C-8B50-0947857C9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F8F2-80E1-4DCA-918B-67472F812FE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369A8A-BACC-4536-AAED-23E1C9D9E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4D41C-C5C6-4AC4-9966-ADAC3BEF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6ECB7-65DC-411A-B3C5-A0DDC98A9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176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47758-8667-4FA3-9F7E-82F52B5E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3C1A2-2A93-4860-AE21-43C0AB476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4EA89-F5CD-42C1-A8B1-ECDB0C413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51811-8D8A-4984-9B7D-A166184F1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F8F2-80E1-4DCA-918B-67472F812FE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482986-BE22-4CAA-ADD2-400D7132B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69D7D9-FFA3-46AD-9A21-F2599B1F6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6ECB7-65DC-411A-B3C5-A0DDC98A9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485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E3DCC-05EE-4B90-B500-085D47999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8831BB-ECD0-4DA9-B7F8-B72AD0FE60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2AE78E-E41A-4DB5-A53D-E7C28F172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5AAD45-FF29-476A-BB9C-F8E1D5F53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F8F2-80E1-4DCA-918B-67472F812FE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162E59-0672-47B4-A8CE-EB85138E2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22284-13A5-4017-8F18-E1C01514B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6ECB7-65DC-411A-B3C5-A0DDC98A9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472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66A60-EAC0-407F-9884-F297ABC86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DF1E25-37D1-4D7E-AF2E-742E72E6F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09346-B80E-4D82-84F4-89E958D60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F8F2-80E1-4DCA-918B-67472F812FE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169A4-B473-45AE-9CDF-9EA061828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1011E-47AA-4883-8A81-10430645D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6ECB7-65DC-411A-B3C5-A0DDC98A9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506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ABCF4F-13C1-4B98-9680-2B4A37422F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F73D1-1CF2-4D0D-9904-A62A79ED8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8F378-CAB1-4D24-8962-B5EF3B724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F8F2-80E1-4DCA-918B-67472F812FE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7A485-99E8-4712-9395-E72C57E99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D627A-A99D-4921-9B09-AE5FF9222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6ECB7-65DC-411A-B3C5-A0DDC98A9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38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0C098A-3F34-4422-9F16-E303D87B0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6CDF9-3838-4C4A-BEA7-AF06FE25F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20BB8-9824-4222-A0EC-80DAA469F9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CBF8F2-80E1-4DCA-918B-67472F812FE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E8C3A-CD92-44EA-B4D6-8520A0EC78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3C86E-3FF7-4C3C-A091-11F965744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6ECB7-65DC-411A-B3C5-A0DDC98A9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86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harayum@ee.iitb.ac.i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jayakrishnan.nair@ee.iitb.ac.i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nobaproject.com/modules/the-developing-parent" TargetMode="External"/><Relationship Id="rId7" Type="http://schemas.openxmlformats.org/officeDocument/2006/relationships/hyperlink" Target="https://mleddy.blogspot.com/2012/01/national-handwriting-day.html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hyperlink" Target="https://vendinghow.com/classifieds" TargetMode="Externa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www.statlearning.com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as.upenn.edu/~fdiebold/NoHesitations/BookAdvanced.pdf" TargetMode="External"/><Relationship Id="rId4" Type="http://schemas.openxmlformats.org/officeDocument/2006/relationships/hyperlink" Target="https://www.microsoft.com/en-us/research/wp-content/uploads/2006/01/Bishop-Pattern-Recognition-and-Machine-Learning-2006.pdf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gG5NCkMerHU?feature=oembed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jrK3PsD3APk?feature=oembed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e9QSCF-d88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4E9AF-9294-4C3C-9984-389F4B881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9832"/>
            <a:ext cx="12192000" cy="1855280"/>
          </a:xfrm>
        </p:spPr>
        <p:txBody>
          <a:bodyPr>
            <a:normAutofit/>
          </a:bodyPr>
          <a:lstStyle/>
          <a:p>
            <a:r>
              <a:rPr lang="en-IN" sz="5400" dirty="0"/>
              <a:t>Machine Learning</a:t>
            </a:r>
            <a:br>
              <a:rPr lang="en-IN" sz="5400" dirty="0"/>
            </a:br>
            <a:r>
              <a:rPr lang="en-IN" sz="4000" dirty="0" err="1"/>
              <a:t>ePDG@CMInDS</a:t>
            </a:r>
            <a:endParaRPr lang="en-IN" sz="5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8DA81EB-670D-3B00-7E8C-C4476AE86A73}"/>
              </a:ext>
            </a:extLst>
          </p:cNvPr>
          <p:cNvSpPr txBox="1">
            <a:spLocks/>
          </p:cNvSpPr>
          <p:nvPr/>
        </p:nvSpPr>
        <p:spPr>
          <a:xfrm>
            <a:off x="254234" y="2908828"/>
            <a:ext cx="11054741" cy="39491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000" dirty="0"/>
              <a:t>Instructors: </a:t>
            </a:r>
            <a:r>
              <a:rPr lang="en-US" sz="4000" dirty="0" err="1"/>
              <a:t>Sharayu</a:t>
            </a:r>
            <a:r>
              <a:rPr lang="en-US" sz="4000" dirty="0"/>
              <a:t> </a:t>
            </a:r>
            <a:r>
              <a:rPr lang="en-US" sz="4000" dirty="0" err="1"/>
              <a:t>Moharir</a:t>
            </a:r>
            <a:r>
              <a:rPr lang="en-US" sz="4000" dirty="0"/>
              <a:t> &amp; Jayakrishnan Nair</a:t>
            </a:r>
          </a:p>
          <a:p>
            <a:pPr algn="l"/>
            <a:r>
              <a:rPr lang="en-US" sz="4000" dirty="0"/>
              <a:t>	</a:t>
            </a:r>
            <a:r>
              <a:rPr lang="en-US" sz="2800" dirty="0">
                <a:hlinkClick r:id="rId3"/>
              </a:rPr>
              <a:t>sharayum@ee.iitb.ac.in</a:t>
            </a:r>
            <a:r>
              <a:rPr lang="en-US" sz="2800" dirty="0"/>
              <a:t>, </a:t>
            </a:r>
            <a:r>
              <a:rPr lang="en-US" sz="2800" dirty="0">
                <a:hlinkClick r:id="rId4"/>
              </a:rPr>
              <a:t>jayakrishnan.nair@ee.iitb.ac.in</a:t>
            </a:r>
            <a:endParaRPr lang="en-US" sz="2800" dirty="0"/>
          </a:p>
          <a:p>
            <a:pPr algn="l"/>
            <a:endParaRPr lang="en-US" sz="4000" dirty="0"/>
          </a:p>
          <a:p>
            <a:pPr algn="l"/>
            <a:r>
              <a:rPr lang="en-US" sz="4000" dirty="0"/>
              <a:t>Lectures: </a:t>
            </a:r>
          </a:p>
          <a:p>
            <a:pPr algn="l"/>
            <a:r>
              <a:rPr lang="en-US" sz="3000" dirty="0"/>
              <a:t>	Monday (7.30 – 9.00 pm)</a:t>
            </a:r>
          </a:p>
          <a:p>
            <a:pPr algn="l"/>
            <a:r>
              <a:rPr lang="en-US" sz="3000" dirty="0"/>
              <a:t>	Saturday (9.30 – 11.00 am)</a:t>
            </a:r>
          </a:p>
          <a:p>
            <a:pPr algn="l"/>
            <a:r>
              <a:rPr lang="en-US" sz="3000" dirty="0"/>
              <a:t>	TA session: Saturdays</a:t>
            </a:r>
            <a:r>
              <a:rPr lang="en-US" sz="3000" dirty="0">
                <a:solidFill>
                  <a:srgbClr val="FF0000"/>
                </a:solidFill>
              </a:rPr>
              <a:t> (2.30 – 3.30 pm)</a:t>
            </a:r>
          </a:p>
        </p:txBody>
      </p:sp>
    </p:spTree>
    <p:extLst>
      <p:ext uri="{BB962C8B-B14F-4D97-AF65-F5344CB8AC3E}">
        <p14:creationId xmlns:p14="http://schemas.microsoft.com/office/powerpoint/2010/main" val="2827688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93BC5-E259-3BB5-31F9-694A14228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E3539-FB3E-56D4-92DB-5C1CB2DA1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Artificial intelligence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Ability of computer systems and machines to perform tasks that conventionally require human intelligence.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Machine Learning:</a:t>
            </a:r>
          </a:p>
          <a:p>
            <a:pPr marL="0" indent="0">
              <a:buNone/>
            </a:pPr>
            <a:r>
              <a:rPr lang="en-US" dirty="0"/>
              <a:t>Subset of AI that seeks to design systems that can learn from data to perform tasks without explicit programming.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234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93BC5-E259-3BB5-31F9-694A14228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E3539-FB3E-56D4-92DB-5C1CB2DA1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Artificial intelligence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Ability of computer systems and machines to perform tasks that conventionally require human intelligence.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Machine Learning:</a:t>
            </a:r>
          </a:p>
          <a:p>
            <a:pPr marL="0" indent="0">
              <a:buNone/>
            </a:pPr>
            <a:r>
              <a:rPr lang="en-US" dirty="0"/>
              <a:t>Subset of AI that seeks to design systems that can </a:t>
            </a:r>
            <a:r>
              <a:rPr lang="en-US" u="sng" dirty="0"/>
              <a:t>learn from data</a:t>
            </a:r>
            <a:r>
              <a:rPr lang="en-US" dirty="0"/>
              <a:t> to perform tasks </a:t>
            </a:r>
            <a:r>
              <a:rPr lang="en-US" u="sng" dirty="0"/>
              <a:t>without explicit programming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924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741F23-5A81-9A0D-A2EA-48DA44066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493053"/>
            <a:ext cx="11183471" cy="33649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i="1" dirty="0"/>
              <a:t>Q: When does ML make sense?</a:t>
            </a:r>
          </a:p>
          <a:p>
            <a:pPr marL="0" indent="0">
              <a:buNone/>
            </a:pPr>
            <a:r>
              <a:rPr lang="en-US" sz="3200" dirty="0"/>
              <a:t>	There is a pattern to be learnt from data</a:t>
            </a:r>
          </a:p>
          <a:p>
            <a:pPr marL="0" indent="0">
              <a:buNone/>
            </a:pPr>
            <a:r>
              <a:rPr lang="en-US" sz="3200" dirty="0"/>
              <a:t>	The pattern is hard to define (and program explicitly)</a:t>
            </a:r>
          </a:p>
          <a:p>
            <a:pPr marL="0" indent="0">
              <a:buNone/>
            </a:pPr>
            <a:r>
              <a:rPr lang="en-US" dirty="0"/>
              <a:t>		E.g.: clean governing equations/laws unavailable</a:t>
            </a:r>
            <a:r>
              <a:rPr lang="en-US" sz="3200" dirty="0"/>
              <a:t>	 </a:t>
            </a:r>
          </a:p>
          <a:p>
            <a:pPr marL="0" indent="0">
              <a:buNone/>
            </a:pPr>
            <a:r>
              <a:rPr lang="en-US" sz="3200" dirty="0"/>
              <a:t>	There is enough data about the pattern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93BC5-E259-3BB5-31F9-694A14228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requirement for ML: </a:t>
            </a:r>
            <a:r>
              <a:rPr lang="en-US" i="1" dirty="0">
                <a:solidFill>
                  <a:srgbClr val="FF0000"/>
                </a:solidFill>
              </a:rPr>
              <a:t>pattern</a:t>
            </a:r>
            <a:r>
              <a:rPr lang="en-US" dirty="0"/>
              <a:t> that can be learned from </a:t>
            </a:r>
            <a:r>
              <a:rPr lang="en-US" i="1" dirty="0">
                <a:solidFill>
                  <a:srgbClr val="FF0000"/>
                </a:solidFill>
              </a:rPr>
              <a:t>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BDE2E-948D-0D41-706D-1E37C3D80381}"/>
              </a:ext>
            </a:extLst>
          </p:cNvPr>
          <p:cNvSpPr txBox="1"/>
          <p:nvPr/>
        </p:nvSpPr>
        <p:spPr>
          <a:xfrm>
            <a:off x="2727129" y="1861816"/>
            <a:ext cx="67377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mic Sans MS" panose="030F0902030302020204" pitchFamily="66" charset="0"/>
              </a:rPr>
              <a:t>“In God we trust. All others must bring data.”</a:t>
            </a:r>
          </a:p>
          <a:p>
            <a:r>
              <a:rPr lang="en-US" sz="2400" dirty="0">
                <a:latin typeface="Comic Sans MS" panose="030F0902030302020204" pitchFamily="66" charset="0"/>
              </a:rPr>
              <a:t>	W. Edward </a:t>
            </a:r>
            <a:r>
              <a:rPr lang="en-US" sz="2400" dirty="0" err="1">
                <a:latin typeface="Comic Sans MS" panose="030F0902030302020204" pitchFamily="66" charset="0"/>
              </a:rPr>
              <a:t>Demmings</a:t>
            </a:r>
            <a:endParaRPr lang="en-US" sz="2400" dirty="0">
              <a:latin typeface="Comic Sans MS" panose="030F09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844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90373-434F-DA12-A3F4-B93EC64B7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36" y="365125"/>
            <a:ext cx="12192000" cy="1786404"/>
          </a:xfrm>
        </p:spPr>
        <p:txBody>
          <a:bodyPr>
            <a:normAutofit/>
          </a:bodyPr>
          <a:lstStyle/>
          <a:p>
            <a:r>
              <a:rPr lang="en-US" sz="4000" dirty="0"/>
              <a:t>Which of the following scenarios is/are ML-amenable?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F7C77A-852D-CEEC-6A88-E5CFE075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03412" y="2151529"/>
            <a:ext cx="2381743" cy="2170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50CFC9-24E7-8DCC-50FB-800D59A9391E}"/>
              </a:ext>
            </a:extLst>
          </p:cNvPr>
          <p:cNvSpPr txBox="1"/>
          <p:nvPr/>
        </p:nvSpPr>
        <p:spPr>
          <a:xfrm>
            <a:off x="403412" y="4706472"/>
            <a:ext cx="23620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will my baby cry </a:t>
            </a:r>
          </a:p>
          <a:p>
            <a:r>
              <a:rPr lang="en-US" dirty="0"/>
              <a:t>next?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25767E-B1DE-8FC4-AA4A-1B98A5B403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803775" y="2151529"/>
            <a:ext cx="1902113" cy="25361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59E1258-D5AA-3D0D-84DC-3F8DCCCA4462}"/>
              </a:ext>
            </a:extLst>
          </p:cNvPr>
          <p:cNvSpPr txBox="1"/>
          <p:nvPr/>
        </p:nvSpPr>
        <p:spPr>
          <a:xfrm>
            <a:off x="3637131" y="4706472"/>
            <a:ext cx="2317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Identify coins inserted </a:t>
            </a:r>
          </a:p>
          <a:p>
            <a:r>
              <a:rPr lang="en-US" dirty="0"/>
              <a:t>into vending machine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B77BA56-E30E-4E4C-DCF0-7726404C82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612836" y="2108305"/>
            <a:ext cx="5116614" cy="178640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E54326F-2E4E-516E-2EC7-F400D13FAA5C}"/>
              </a:ext>
            </a:extLst>
          </p:cNvPr>
          <p:cNvSpPr txBox="1"/>
          <p:nvPr/>
        </p:nvSpPr>
        <p:spPr>
          <a:xfrm>
            <a:off x="7469587" y="4706472"/>
            <a:ext cx="3403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Convert handwriting to digital text</a:t>
            </a:r>
          </a:p>
        </p:txBody>
      </p:sp>
    </p:spTree>
    <p:extLst>
      <p:ext uri="{BB962C8B-B14F-4D97-AF65-F5344CB8AC3E}">
        <p14:creationId xmlns:p14="http://schemas.microsoft.com/office/powerpoint/2010/main" val="2235434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9E923-F173-C061-04D5-D565C6BE1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kinds of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621DED-FBAC-16E2-BE6B-903E9CB82F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1. Supervised learning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/>
                  <a:t>Given (typically lots of) training data samples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), ...,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marL="914400" lvl="2" indent="0">
                  <a:buNone/>
                </a:pPr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/>
                  <a:t>Goal: </a:t>
                </a:r>
              </a:p>
              <a:p>
                <a:pPr marL="457200" lvl="1" indent="0">
                  <a:buNone/>
                </a:pPr>
                <a:r>
                  <a:rPr lang="en-US" dirty="0"/>
                  <a:t>	Predict 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corresponding to unseen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(prediction)</a:t>
                </a:r>
              </a:p>
              <a:p>
                <a:pPr marL="457200" lvl="1" indent="0">
                  <a:buNone/>
                </a:pPr>
                <a:r>
                  <a:rPr lang="en-US" dirty="0"/>
                  <a:t>	Infer the nature of the relationship between input and output (inference)</a:t>
                </a:r>
              </a:p>
              <a:p>
                <a:pPr marL="457200" lvl="1" indent="0">
                  <a:buNone/>
                </a:pPr>
                <a:r>
                  <a:rPr lang="en-US" dirty="0"/>
                  <a:t>		</a:t>
                </a:r>
              </a:p>
              <a:p>
                <a:pPr lvl="2">
                  <a:buFont typeface="Wingdings" pitchFamily="2" charset="2"/>
                  <a:buChar char="Ø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621DED-FBAC-16E2-BE6B-903E9CB82F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206" t="-2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C52C2821-A6B2-06C3-4D4C-1FC8E6359A4F}"/>
              </a:ext>
            </a:extLst>
          </p:cNvPr>
          <p:cNvGrpSpPr/>
          <p:nvPr/>
        </p:nvGrpSpPr>
        <p:grpSpPr>
          <a:xfrm>
            <a:off x="871902" y="3508512"/>
            <a:ext cx="1127021" cy="739685"/>
            <a:chOff x="856662" y="3493272"/>
            <a:chExt cx="1127021" cy="739685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9473D276-2F50-2175-95C6-19E9511BA3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35264" y="3493272"/>
              <a:ext cx="448419" cy="347870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F2078AA-FFE2-B3C7-AF39-56F2D8D8AE4E}"/>
                </a:ext>
              </a:extLst>
            </p:cNvPr>
            <p:cNvSpPr txBox="1"/>
            <p:nvPr/>
          </p:nvSpPr>
          <p:spPr>
            <a:xfrm>
              <a:off x="856662" y="3771292"/>
              <a:ext cx="9028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Comic Sans MS" panose="030F0902030302020204" pitchFamily="66" charset="0"/>
                </a:rPr>
                <a:t>input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58247A3-D258-AED0-F12A-C45E65DA3D1D}"/>
              </a:ext>
            </a:extLst>
          </p:cNvPr>
          <p:cNvGrpSpPr/>
          <p:nvPr/>
        </p:nvGrpSpPr>
        <p:grpSpPr>
          <a:xfrm>
            <a:off x="2384390" y="3508512"/>
            <a:ext cx="1242571" cy="749901"/>
            <a:chOff x="1466339" y="3349431"/>
            <a:chExt cx="1242571" cy="749901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E032940-F8E8-8498-E3EB-E6088A8745FB}"/>
                </a:ext>
              </a:extLst>
            </p:cNvPr>
            <p:cNvCxnSpPr>
              <a:cxnSpLocks/>
            </p:cNvCxnSpPr>
            <p:nvPr/>
          </p:nvCxnSpPr>
          <p:spPr>
            <a:xfrm>
              <a:off x="1466339" y="3349431"/>
              <a:ext cx="326836" cy="421861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12D5C28-8F0E-D1F0-8361-224A926D7BD7}"/>
                </a:ext>
              </a:extLst>
            </p:cNvPr>
            <p:cNvSpPr txBox="1"/>
            <p:nvPr/>
          </p:nvSpPr>
          <p:spPr>
            <a:xfrm>
              <a:off x="1588090" y="3637667"/>
              <a:ext cx="11208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Comic Sans MS" panose="030F0902030302020204" pitchFamily="66" charset="0"/>
                </a:rPr>
                <a:t>output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6646B8B-1D99-B4AE-93E4-5FA921F1A150}"/>
              </a:ext>
            </a:extLst>
          </p:cNvPr>
          <p:cNvSpPr txBox="1"/>
          <p:nvPr/>
        </p:nvSpPr>
        <p:spPr>
          <a:xfrm>
            <a:off x="4608252" y="6166147"/>
            <a:ext cx="29754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mic Sans MS" panose="030F0902030302020204" pitchFamily="66" charset="0"/>
              </a:rPr>
              <a:t>most of this course</a:t>
            </a:r>
          </a:p>
        </p:txBody>
      </p:sp>
    </p:spTree>
    <p:extLst>
      <p:ext uri="{BB962C8B-B14F-4D97-AF65-F5344CB8AC3E}">
        <p14:creationId xmlns:p14="http://schemas.microsoft.com/office/powerpoint/2010/main" val="1336373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1A3B1-09CB-D835-58F6-05CB25F22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handwritten digit recognition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F0A3E4-597D-E2ED-EB94-88A8D99CEB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: an image of the form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: number in image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F0A3E4-597D-E2ED-EB94-88A8D99CEB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62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MNIST database - Wikipedia">
            <a:extLst>
              <a:ext uri="{FF2B5EF4-FFF2-40B4-BE49-F238E27FC236}">
                <a16:creationId xmlns:a16="http://schemas.microsoft.com/office/drawing/2014/main" id="{BDADFABE-A50C-9A5C-7618-522B83854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4396" y="1928456"/>
            <a:ext cx="6306227" cy="3129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4C41C1-5D75-321A-E8F9-6615A0256899}"/>
              </a:ext>
            </a:extLst>
          </p:cNvPr>
          <p:cNvSpPr txBox="1"/>
          <p:nvPr/>
        </p:nvSpPr>
        <p:spPr>
          <a:xfrm>
            <a:off x="7010033" y="5192437"/>
            <a:ext cx="1694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(MNIST dataset)</a:t>
            </a:r>
          </a:p>
        </p:txBody>
      </p:sp>
    </p:spTree>
    <p:extLst>
      <p:ext uri="{BB962C8B-B14F-4D97-AF65-F5344CB8AC3E}">
        <p14:creationId xmlns:p14="http://schemas.microsoft.com/office/powerpoint/2010/main" val="1395888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1A3B1-09CB-D835-58F6-05CB25F22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product marketing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F0A3E4-597D-E2ED-EB94-88A8D99CEB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: (TV ad spend, radio ad spend, online ad spend)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: sales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F0A3E4-597D-E2ED-EB94-88A8D99CEB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62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862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1A3B1-09CB-D835-58F6-05CB25F22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loan processing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F0A3E4-597D-E2ED-EB94-88A8D99CEB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: (age, salary, credit history)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/>
                  <a:t>Case 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: loan interest rate</a:t>
                </a:r>
                <a:endParaRPr lang="en-US" b="0" dirty="0"/>
              </a:p>
              <a:p>
                <a:pPr marL="0" indent="0">
                  <a:buNone/>
                </a:pPr>
                <a:r>
                  <a:rPr lang="en-US" b="0" dirty="0"/>
                  <a:t>Case 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: accept/reject loan application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F0A3E4-597D-E2ED-EB94-88A8D99CEB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1204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1A3B1-09CB-D835-58F6-05CB25F22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we are all familiar with...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F0A3E4-597D-E2ED-EB94-88A8D99CEB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: (incomplete) string of text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: </a:t>
                </a:r>
                <a:r>
                  <a:rPr lang="en-US" i="1" dirty="0"/>
                  <a:t>next</a:t>
                </a:r>
                <a:r>
                  <a:rPr lang="en-US" dirty="0"/>
                  <a:t> word in the string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F0A3E4-597D-E2ED-EB94-88A8D99CEB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62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B616FA5F-3D8E-24B1-9C60-465F51C71596}"/>
              </a:ext>
            </a:extLst>
          </p:cNvPr>
          <p:cNvGrpSpPr/>
          <p:nvPr/>
        </p:nvGrpSpPr>
        <p:grpSpPr>
          <a:xfrm>
            <a:off x="343000" y="2421390"/>
            <a:ext cx="11034333" cy="4362823"/>
            <a:chOff x="343000" y="2421390"/>
            <a:chExt cx="11034333" cy="4362823"/>
          </a:xfrm>
        </p:grpSpPr>
        <p:pic>
          <p:nvPicPr>
            <p:cNvPr id="4" name="Picture 2" descr="ChatGPT - Wikipedia">
              <a:extLst>
                <a:ext uri="{FF2B5EF4-FFF2-40B4-BE49-F238E27FC236}">
                  <a16:creationId xmlns:a16="http://schemas.microsoft.com/office/drawing/2014/main" id="{95A335A2-3303-22D5-6865-604BFC57FF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000" y="4209182"/>
              <a:ext cx="1365662" cy="13656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80917FC-BB1B-1F94-B6AC-5ADFCD4244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16026" y="2421390"/>
              <a:ext cx="3907973" cy="8858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6" descr="Grok-3: How to Access and Use It">
              <a:extLst>
                <a:ext uri="{FF2B5EF4-FFF2-40B4-BE49-F238E27FC236}">
                  <a16:creationId xmlns:a16="http://schemas.microsoft.com/office/drawing/2014/main" id="{D5A26E1C-A89C-DFE9-8984-EC9A01FB62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27833" y="5272913"/>
              <a:ext cx="2349500" cy="1511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8" descr="Gemini (language model) - Wikipedia">
              <a:extLst>
                <a:ext uri="{FF2B5EF4-FFF2-40B4-BE49-F238E27FC236}">
                  <a16:creationId xmlns:a16="http://schemas.microsoft.com/office/drawing/2014/main" id="{A6E69E38-DFC6-9A56-F102-25A87AC5EC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5173" y="5498213"/>
              <a:ext cx="2698752" cy="9946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10" descr="Stanford-Alpaca">
              <a:extLst>
                <a:ext uri="{FF2B5EF4-FFF2-40B4-BE49-F238E27FC236}">
                  <a16:creationId xmlns:a16="http://schemas.microsoft.com/office/drawing/2014/main" id="{0890D3C6-88C7-A98D-59B3-2EF71375E1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23690" y="3776879"/>
              <a:ext cx="3158837" cy="1218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12">
              <a:extLst>
                <a:ext uri="{FF2B5EF4-FFF2-40B4-BE49-F238E27FC236}">
                  <a16:creationId xmlns:a16="http://schemas.microsoft.com/office/drawing/2014/main" id="{2E378EBB-9EEC-A176-3A94-2784ADAB32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1176" y="3852862"/>
              <a:ext cx="38100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4" descr="DeepSeek AI Search: Benefits ...">
              <a:extLst>
                <a:ext uri="{FF2B5EF4-FFF2-40B4-BE49-F238E27FC236}">
                  <a16:creationId xmlns:a16="http://schemas.microsoft.com/office/drawing/2014/main" id="{AB62505A-C665-F4C6-382D-B304CA5CDE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7458" y="4830416"/>
              <a:ext cx="2698752" cy="15113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11297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9E923-F173-C061-04D5-D565C6BE1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kinds of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621DED-FBAC-16E2-BE6B-903E9CB82F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2. Unsupervised learning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/>
                  <a:t>Given (typically lots of) data samples of the form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.…,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/>
                  <a:t>Goal: </a:t>
                </a:r>
              </a:p>
              <a:p>
                <a:pPr marL="457200" lvl="1" indent="0">
                  <a:buNone/>
                </a:pPr>
                <a:r>
                  <a:rPr lang="en-US" dirty="0"/>
                  <a:t>	Find patterns in the data</a:t>
                </a:r>
              </a:p>
              <a:p>
                <a:pPr marL="457200" lvl="1" indent="0">
                  <a:buNone/>
                </a:pPr>
                <a:r>
                  <a:rPr lang="en-US" dirty="0"/>
                  <a:t>	</a:t>
                </a:r>
                <a:r>
                  <a:rPr lang="en-US" dirty="0" err="1"/>
                  <a:t>Eg</a:t>
                </a:r>
                <a:r>
                  <a:rPr lang="en-US" dirty="0"/>
                  <a:t>: Clustering		</a:t>
                </a:r>
              </a:p>
              <a:p>
                <a:pPr lvl="2">
                  <a:buFont typeface="Wingdings" pitchFamily="2" charset="2"/>
                  <a:buChar char="Ø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621DED-FBAC-16E2-BE6B-903E9CB82F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206" t="-2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12D5C28-8F0E-D1F0-8361-224A926D7BD7}"/>
              </a:ext>
            </a:extLst>
          </p:cNvPr>
          <p:cNvSpPr txBox="1"/>
          <p:nvPr/>
        </p:nvSpPr>
        <p:spPr>
          <a:xfrm>
            <a:off x="4308331" y="3697585"/>
            <a:ext cx="1787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mic Sans MS" panose="030F0902030302020204" pitchFamily="66" charset="0"/>
              </a:rPr>
              <a:t>no “output”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FA7600-85C5-C97C-151F-E22C70560719}"/>
              </a:ext>
            </a:extLst>
          </p:cNvPr>
          <p:cNvSpPr txBox="1"/>
          <p:nvPr/>
        </p:nvSpPr>
        <p:spPr>
          <a:xfrm>
            <a:off x="3948617" y="6166147"/>
            <a:ext cx="4294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mic Sans MS" panose="030F0902030302020204" pitchFamily="66" charset="0"/>
              </a:rPr>
              <a:t>some coverage in this course</a:t>
            </a:r>
          </a:p>
        </p:txBody>
      </p:sp>
      <p:pic>
        <p:nvPicPr>
          <p:cNvPr id="4098" name="Picture 2" descr="Machine Learning - Supervised, Unsupervised and Reinforcement">
            <a:extLst>
              <a:ext uri="{FF2B5EF4-FFF2-40B4-BE49-F238E27FC236}">
                <a16:creationId xmlns:a16="http://schemas.microsoft.com/office/drawing/2014/main" id="{4246C47F-0A55-B96C-436E-965FFEED3B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61" t="38261" r="25480" b="34203"/>
          <a:stretch/>
        </p:blipFill>
        <p:spPr bwMode="auto">
          <a:xfrm>
            <a:off x="8925339" y="2982365"/>
            <a:ext cx="3139390" cy="3160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691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B0060-0CC6-9FD1-0C96-F04BB7DDE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market segmentation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060846-DAC3-2B2E-C62D-47B5F8BFDA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(age, gender, pin code, spend history,....)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dirty="0"/>
                  <a:t>Goal: Segment customers into clusters (for marketing / product dev.)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060846-DAC3-2B2E-C62D-47B5F8BFDA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3963190-5785-8062-D2F3-210B10F605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4873" y="3191164"/>
            <a:ext cx="6040582" cy="402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619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9E923-F173-C061-04D5-D565C6BE1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kinds of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21DED-FBAC-16E2-BE6B-903E9CB82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90791" cy="46672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3. Reinforcement Learning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dirty="0"/>
              <a:t>Learning in scenarios where a learning agent (a.k.a., algorithm) interacts with an (</a:t>
            </a:r>
            <a:r>
              <a:rPr lang="en-US" dirty="0" err="1"/>
              <a:t>apriori</a:t>
            </a:r>
            <a:r>
              <a:rPr lang="en-US" dirty="0"/>
              <a:t>) unknown environment sequentially</a:t>
            </a:r>
            <a:endParaRPr lang="en-US" i="1" dirty="0"/>
          </a:p>
          <a:p>
            <a:pPr marL="457200" lvl="1" indent="0">
              <a:buNone/>
            </a:pPr>
            <a:r>
              <a:rPr lang="en-US" dirty="0"/>
              <a:t>	</a:t>
            </a:r>
          </a:p>
          <a:p>
            <a:pPr lvl="2">
              <a:buFont typeface="Wingdings" pitchFamily="2" charset="2"/>
              <a:buChar char="Ø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EEDB90-A022-4D78-2C7B-C9BE3D9CF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4064597"/>
            <a:ext cx="5956300" cy="2590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AC7A1E-1790-40AE-D3F6-E3B0D31EE15F}"/>
              </a:ext>
            </a:extLst>
          </p:cNvPr>
          <p:cNvSpPr txBox="1"/>
          <p:nvPr/>
        </p:nvSpPr>
        <p:spPr>
          <a:xfrm>
            <a:off x="7692886" y="2435088"/>
            <a:ext cx="4408130" cy="41549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Env. state evolves based on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current state and current action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Reward also depends on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current state and action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Present action influences future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rewards</a:t>
            </a:r>
          </a:p>
          <a:p>
            <a:br>
              <a:rPr lang="en-US" sz="2400" dirty="0">
                <a:solidFill>
                  <a:srgbClr val="FF0000"/>
                </a:solidFill>
              </a:rPr>
            </a:br>
            <a:r>
              <a:rPr lang="en-US" sz="2400" dirty="0">
                <a:solidFill>
                  <a:srgbClr val="FF0000"/>
                </a:solidFill>
              </a:rPr>
              <a:t>Q: How to optimally interact with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the environment?</a:t>
            </a:r>
          </a:p>
        </p:txBody>
      </p:sp>
    </p:spTree>
    <p:extLst>
      <p:ext uri="{BB962C8B-B14F-4D97-AF65-F5344CB8AC3E}">
        <p14:creationId xmlns:p14="http://schemas.microsoft.com/office/powerpoint/2010/main" val="3718192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9E923-F173-C061-04D5-D565C6BE1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kinds of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21DED-FBAC-16E2-BE6B-903E9CB82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90791" cy="46672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3. Reinforcement Learning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dirty="0"/>
              <a:t>Learning in scenarios where a learning agent (a.k.a., algorithm) interacts with an (</a:t>
            </a:r>
            <a:r>
              <a:rPr lang="en-US" dirty="0" err="1"/>
              <a:t>apriori</a:t>
            </a:r>
            <a:r>
              <a:rPr lang="en-US" dirty="0"/>
              <a:t>) unknown environment sequentially</a:t>
            </a:r>
            <a:endParaRPr lang="en-US" i="1" dirty="0"/>
          </a:p>
          <a:p>
            <a:pPr marL="457200" lvl="1" indent="0">
              <a:buNone/>
            </a:pPr>
            <a:r>
              <a:rPr lang="en-US" dirty="0"/>
              <a:t>	</a:t>
            </a:r>
          </a:p>
          <a:p>
            <a:pPr lvl="2">
              <a:buFont typeface="Wingdings" pitchFamily="2" charset="2"/>
              <a:buChar char="Ø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EEDB90-A022-4D78-2C7B-C9BE3D9CF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4064597"/>
            <a:ext cx="5956300" cy="2590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1C4AA0-1D03-9851-B4CD-D3B4C0F29911}"/>
              </a:ext>
            </a:extLst>
          </p:cNvPr>
          <p:cNvSpPr txBox="1"/>
          <p:nvPr/>
        </p:nvSpPr>
        <p:spPr>
          <a:xfrm>
            <a:off x="8028402" y="3279767"/>
            <a:ext cx="332539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Examples: 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Autonomous driving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Robotic manipulation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Chess bots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64FF44-A670-52B5-93B7-0799D9759EE6}"/>
              </a:ext>
            </a:extLst>
          </p:cNvPr>
          <p:cNvSpPr txBox="1"/>
          <p:nvPr/>
        </p:nvSpPr>
        <p:spPr>
          <a:xfrm>
            <a:off x="6890024" y="6303569"/>
            <a:ext cx="3900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mic Sans MS" panose="030F0902030302020204" pitchFamily="66" charset="0"/>
              </a:rPr>
              <a:t>no coverage in this course</a:t>
            </a:r>
          </a:p>
        </p:txBody>
      </p:sp>
    </p:spTree>
    <p:extLst>
      <p:ext uri="{BB962C8B-B14F-4D97-AF65-F5344CB8AC3E}">
        <p14:creationId xmlns:p14="http://schemas.microsoft.com/office/powerpoint/2010/main" val="2999515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9E923-F173-C061-04D5-D565C6BE1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kinds of ML (summary)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21DED-FBAC-16E2-BE6B-903E9CB82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48391" cy="46672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Supervised Learning (most of this course)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Unsupervised learning (some of this course)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Reinforcement Learning (no coverage here – electives later)</a:t>
            </a:r>
          </a:p>
          <a:p>
            <a:pPr marL="0" indent="0">
              <a:buNone/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14135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1D439-4C90-464F-A31E-426D9AD54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content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59CBAE-44CF-1F40-B1D7-B74D75D7F0CC}"/>
              </a:ext>
            </a:extLst>
          </p:cNvPr>
          <p:cNvSpPr/>
          <p:nvPr/>
        </p:nvSpPr>
        <p:spPr>
          <a:xfrm>
            <a:off x="997225" y="1477053"/>
            <a:ext cx="686696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Linear regression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Model selection &amp; Regularization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Cross-validation &amp; Bootstrap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Support vector machines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Kernel methods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Tree-based methods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2">
                    <a:lumMod val="75000"/>
                  </a:schemeClr>
                </a:solidFill>
              </a:rPr>
              <a:t>Deep neural networks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Classification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Principal components analysis</a:t>
            </a:r>
            <a:endParaRPr lang="en-IN" sz="2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0E71029-3DC7-61B3-8896-748A83B00D71}"/>
              </a:ext>
            </a:extLst>
          </p:cNvPr>
          <p:cNvGrpSpPr/>
          <p:nvPr/>
        </p:nvGrpSpPr>
        <p:grpSpPr>
          <a:xfrm>
            <a:off x="6321288" y="1690688"/>
            <a:ext cx="4233493" cy="2742164"/>
            <a:chOff x="6321288" y="1690688"/>
            <a:chExt cx="4233493" cy="2742164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2E8244EB-844F-6545-95D9-EE62993360C3}"/>
                </a:ext>
              </a:extLst>
            </p:cNvPr>
            <p:cNvSpPr/>
            <p:nvPr/>
          </p:nvSpPr>
          <p:spPr>
            <a:xfrm>
              <a:off x="6321288" y="1690688"/>
              <a:ext cx="993913" cy="2742164"/>
            </a:xfrm>
            <a:prstGeom prst="righ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1C1A1AC-0B8D-2E16-3D19-7071FEADFCB5}"/>
                </a:ext>
              </a:extLst>
            </p:cNvPr>
            <p:cNvSpPr txBox="1"/>
            <p:nvPr/>
          </p:nvSpPr>
          <p:spPr>
            <a:xfrm>
              <a:off x="7526260" y="2800160"/>
              <a:ext cx="302852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1"/>
                  </a:solidFill>
                </a:rPr>
                <a:t>supervised learning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5828E50-7324-717B-6A5F-292BF21D7133}"/>
              </a:ext>
            </a:extLst>
          </p:cNvPr>
          <p:cNvGrpSpPr/>
          <p:nvPr/>
        </p:nvGrpSpPr>
        <p:grpSpPr>
          <a:xfrm>
            <a:off x="6339311" y="4646487"/>
            <a:ext cx="4611802" cy="800884"/>
            <a:chOff x="6321288" y="1690688"/>
            <a:chExt cx="4611802" cy="800884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92943E6B-FF16-245F-7C31-070F0B6484AD}"/>
                </a:ext>
              </a:extLst>
            </p:cNvPr>
            <p:cNvSpPr/>
            <p:nvPr/>
          </p:nvSpPr>
          <p:spPr>
            <a:xfrm>
              <a:off x="6321288" y="1690688"/>
              <a:ext cx="993913" cy="800884"/>
            </a:xfrm>
            <a:prstGeom prst="righ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703CC7A-7CCE-94AE-BECC-1604AE16247A}"/>
                </a:ext>
              </a:extLst>
            </p:cNvPr>
            <p:cNvSpPr txBox="1"/>
            <p:nvPr/>
          </p:nvSpPr>
          <p:spPr>
            <a:xfrm>
              <a:off x="7526260" y="1826126"/>
              <a:ext cx="340683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1"/>
                  </a:solidFill>
                </a:rPr>
                <a:t>unsupervised learning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7573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DF31-0A06-A6BA-A3B1-47320AE56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289" y="260350"/>
            <a:ext cx="10515600" cy="1325563"/>
          </a:xfrm>
        </p:spPr>
        <p:txBody>
          <a:bodyPr/>
          <a:lstStyle/>
          <a:p>
            <a:r>
              <a:rPr lang="en-US" dirty="0"/>
              <a:t>Detailed course plan (first half)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DF9105-159E-4798-9C59-9281D7582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424891"/>
              </p:ext>
            </p:extLst>
          </p:nvPr>
        </p:nvGraphicFramePr>
        <p:xfrm>
          <a:off x="838201" y="1454727"/>
          <a:ext cx="10619510" cy="5286096"/>
        </p:xfrm>
        <a:graphic>
          <a:graphicData uri="http://schemas.openxmlformats.org/drawingml/2006/table">
            <a:tbl>
              <a:tblPr/>
              <a:tblGrid>
                <a:gridCol w="1589315">
                  <a:extLst>
                    <a:ext uri="{9D8B030D-6E8A-4147-A177-3AD203B41FA5}">
                      <a16:colId xmlns:a16="http://schemas.microsoft.com/office/drawing/2014/main" val="2138984730"/>
                    </a:ext>
                  </a:extLst>
                </a:gridCol>
                <a:gridCol w="1492992">
                  <a:extLst>
                    <a:ext uri="{9D8B030D-6E8A-4147-A177-3AD203B41FA5}">
                      <a16:colId xmlns:a16="http://schemas.microsoft.com/office/drawing/2014/main" val="497698061"/>
                    </a:ext>
                  </a:extLst>
                </a:gridCol>
                <a:gridCol w="7537203">
                  <a:extLst>
                    <a:ext uri="{9D8B030D-6E8A-4147-A177-3AD203B41FA5}">
                      <a16:colId xmlns:a16="http://schemas.microsoft.com/office/drawing/2014/main" val="4215993660"/>
                    </a:ext>
                  </a:extLst>
                </a:gridCol>
              </a:tblGrid>
              <a:tr h="30960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b="1">
                          <a:effectLst/>
                        </a:rPr>
                        <a:t>Lecture #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 b="1">
                          <a:effectLst/>
                        </a:rPr>
                        <a:t>Date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 b="1">
                          <a:effectLst/>
                        </a:rPr>
                        <a:t>Material covered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4467641"/>
                  </a:ext>
                </a:extLst>
              </a:tr>
              <a:tr h="45435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>
                          <a:effectLst/>
                        </a:rPr>
                        <a:t>1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02/02/26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 dirty="0">
                          <a:effectLst/>
                        </a:rPr>
                        <a:t>Introduction to AI &amp; ML</a:t>
                      </a:r>
                      <a:br>
                        <a:rPr lang="en-IN" sz="2000" dirty="0">
                          <a:effectLst/>
                        </a:rPr>
                      </a:br>
                      <a:r>
                        <a:rPr lang="en-IN" sz="2000" dirty="0">
                          <a:effectLst/>
                        </a:rPr>
                        <a:t>Supervised vs Unsupervised vs Reinforcement Learning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0624094"/>
                  </a:ext>
                </a:extLst>
              </a:tr>
              <a:tr h="30960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>
                          <a:effectLst/>
                        </a:rPr>
                        <a:t>2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07/02/26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 dirty="0">
                          <a:effectLst/>
                        </a:rPr>
                        <a:t>Background in convexity, optimization &amp; linear algebra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227997"/>
                  </a:ext>
                </a:extLst>
              </a:tr>
              <a:tr h="45435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>
                          <a:effectLst/>
                        </a:rPr>
                        <a:t>3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09/02/26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Linear regression -- ordinary least squares optimization, case studies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5059530"/>
                  </a:ext>
                </a:extLst>
              </a:tr>
              <a:tr h="30960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>
                          <a:effectLst/>
                        </a:rPr>
                        <a:t>4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14/02/26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Probability background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6587994"/>
                  </a:ext>
                </a:extLst>
              </a:tr>
              <a:tr h="45435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>
                          <a:effectLst/>
                        </a:rPr>
                        <a:t>5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16/02/26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Statistical framework, hypothesis testing, goodness of fit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2628925"/>
                  </a:ext>
                </a:extLst>
              </a:tr>
              <a:tr h="45435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>
                          <a:effectLst/>
                        </a:rPr>
                        <a:t>6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21/02/26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Model assessment &amp; selection: subset selection, cross-validation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3343970"/>
                  </a:ext>
                </a:extLst>
              </a:tr>
              <a:tr h="45435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>
                          <a:effectLst/>
                        </a:rPr>
                        <a:t>7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23/02/26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Model assessment &amp; selection: bootstrapping, in-sample methods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9736728"/>
                  </a:ext>
                </a:extLst>
              </a:tr>
              <a:tr h="30960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>
                          <a:effectLst/>
                        </a:rPr>
                        <a:t>8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28/02/26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Gradient descent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0234438"/>
                  </a:ext>
                </a:extLst>
              </a:tr>
              <a:tr h="45435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>
                          <a:effectLst/>
                        </a:rPr>
                        <a:t>9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07/03/26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 dirty="0">
                          <a:effectLst/>
                        </a:rPr>
                        <a:t>Introduction to convex optimization: Primal, dual, KKT conditions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7001218"/>
                  </a:ext>
                </a:extLst>
              </a:tr>
              <a:tr h="45435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>
                          <a:effectLst/>
                        </a:rPr>
                        <a:t>10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09/03/26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 dirty="0">
                          <a:effectLst/>
                        </a:rPr>
                        <a:t>Introduction to classification -- Perceptron Learning Algorithm (PLA)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233270"/>
                  </a:ext>
                </a:extLst>
              </a:tr>
              <a:tr h="30960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>
                          <a:effectLst/>
                        </a:rPr>
                        <a:t>11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14/03/26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Hard margin classifier, support vector machine (SVM)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0816242"/>
                  </a:ext>
                </a:extLst>
              </a:tr>
              <a:tr h="30960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>
                          <a:effectLst/>
                        </a:rPr>
                        <a:t>12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16/03/26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 dirty="0">
                          <a:effectLst/>
                        </a:rPr>
                        <a:t>Kernel functions &amp; kernel SVM</a:t>
                      </a:r>
                    </a:p>
                  </a:txBody>
                  <a:tcPr marL="13023" marR="13023" marT="8682" marB="8682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49297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3215C69-DFA6-EB82-6C8D-173A6F138B54}"/>
              </a:ext>
            </a:extLst>
          </p:cNvPr>
          <p:cNvSpPr txBox="1"/>
          <p:nvPr/>
        </p:nvSpPr>
        <p:spPr>
          <a:xfrm>
            <a:off x="10474037" y="117177"/>
            <a:ext cx="1525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* tentative</a:t>
            </a:r>
          </a:p>
        </p:txBody>
      </p:sp>
    </p:spTree>
    <p:extLst>
      <p:ext uri="{BB962C8B-B14F-4D97-AF65-F5344CB8AC3E}">
        <p14:creationId xmlns:p14="http://schemas.microsoft.com/office/powerpoint/2010/main" val="613789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DF31-0A06-A6BA-A3B1-47320AE5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course plan (second half)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4C7EB1-029E-CFB3-1F9F-98EA5D13B9CD}"/>
              </a:ext>
            </a:extLst>
          </p:cNvPr>
          <p:cNvSpPr txBox="1"/>
          <p:nvPr/>
        </p:nvSpPr>
        <p:spPr>
          <a:xfrm>
            <a:off x="10474037" y="117177"/>
            <a:ext cx="1525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* tentative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6FC692-DA85-1391-05BD-5DD3FE135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732180"/>
              </p:ext>
            </p:extLst>
          </p:nvPr>
        </p:nvGraphicFramePr>
        <p:xfrm>
          <a:off x="838199" y="1454727"/>
          <a:ext cx="9601200" cy="4383517"/>
        </p:xfrm>
        <a:graphic>
          <a:graphicData uri="http://schemas.openxmlformats.org/drawingml/2006/table">
            <a:tbl>
              <a:tblPr/>
              <a:tblGrid>
                <a:gridCol w="1436916">
                  <a:extLst>
                    <a:ext uri="{9D8B030D-6E8A-4147-A177-3AD203B41FA5}">
                      <a16:colId xmlns:a16="http://schemas.microsoft.com/office/drawing/2014/main" val="1900732864"/>
                    </a:ext>
                  </a:extLst>
                </a:gridCol>
                <a:gridCol w="1349827">
                  <a:extLst>
                    <a:ext uri="{9D8B030D-6E8A-4147-A177-3AD203B41FA5}">
                      <a16:colId xmlns:a16="http://schemas.microsoft.com/office/drawing/2014/main" val="3922540640"/>
                    </a:ext>
                  </a:extLst>
                </a:gridCol>
                <a:gridCol w="6814457">
                  <a:extLst>
                    <a:ext uri="{9D8B030D-6E8A-4147-A177-3AD203B41FA5}">
                      <a16:colId xmlns:a16="http://schemas.microsoft.com/office/drawing/2014/main" val="692339127"/>
                    </a:ext>
                  </a:extLst>
                </a:gridCol>
              </a:tblGrid>
              <a:tr h="32309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b="1">
                          <a:effectLst/>
                        </a:rPr>
                        <a:t>Lecture #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 b="1">
                          <a:effectLst/>
                        </a:rPr>
                        <a:t>Date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 b="1">
                          <a:effectLst/>
                        </a:rPr>
                        <a:t>Material covered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801474"/>
                  </a:ext>
                </a:extLst>
              </a:tr>
              <a:tr h="474157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>
                          <a:effectLst/>
                        </a:rPr>
                        <a:t>13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30/03/26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Shrinkage methods for regression: Ridge regression &amp; LASSO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3811532"/>
                  </a:ext>
                </a:extLst>
              </a:tr>
              <a:tr h="32309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>
                          <a:effectLst/>
                        </a:rPr>
                        <a:t>14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04/04/26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Kernalizing Ridge regression, PLA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4423405"/>
                  </a:ext>
                </a:extLst>
              </a:tr>
              <a:tr h="32309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>
                          <a:effectLst/>
                        </a:rPr>
                        <a:t>15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06/04/26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Classification: Logistic regression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033381"/>
                  </a:ext>
                </a:extLst>
              </a:tr>
              <a:tr h="32309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>
                          <a:effectLst/>
                        </a:rPr>
                        <a:t>16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11/04/26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 dirty="0">
                          <a:effectLst/>
                        </a:rPr>
                        <a:t>Classification: Gaussian discriminant analysis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905678"/>
                  </a:ext>
                </a:extLst>
              </a:tr>
              <a:tr h="32309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>
                          <a:effectLst/>
                        </a:rPr>
                        <a:t>17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13/04/26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 dirty="0">
                          <a:effectLst/>
                        </a:rPr>
                        <a:t>Classification: Naive Bayes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859452"/>
                  </a:ext>
                </a:extLst>
              </a:tr>
              <a:tr h="32309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>
                          <a:effectLst/>
                        </a:rPr>
                        <a:t>18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18/04/26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Decision trees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880192"/>
                  </a:ext>
                </a:extLst>
              </a:tr>
              <a:tr h="32309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>
                          <a:effectLst/>
                        </a:rPr>
                        <a:t>19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20/04/26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Decision trees (continued)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4310509"/>
                  </a:ext>
                </a:extLst>
              </a:tr>
              <a:tr h="32309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>
                          <a:effectLst/>
                        </a:rPr>
                        <a:t>20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25/04/26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Bagging, Random forest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0554346"/>
                  </a:ext>
                </a:extLst>
              </a:tr>
              <a:tr h="32309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>
                          <a:effectLst/>
                        </a:rPr>
                        <a:t>21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27/04/26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 dirty="0">
                          <a:effectLst/>
                        </a:rPr>
                        <a:t>Boosting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9358621"/>
                  </a:ext>
                </a:extLst>
              </a:tr>
              <a:tr h="32309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>
                          <a:effectLst/>
                        </a:rPr>
                        <a:t>22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02/05/26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 dirty="0">
                          <a:effectLst/>
                        </a:rPr>
                        <a:t>Unsupervised learning, K-means clustering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9511403"/>
                  </a:ext>
                </a:extLst>
              </a:tr>
              <a:tr h="32309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>
                          <a:effectLst/>
                        </a:rPr>
                        <a:t>23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04/05/26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Principal component analysis 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9820871"/>
                  </a:ext>
                </a:extLst>
              </a:tr>
              <a:tr h="32309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>
                          <a:effectLst/>
                        </a:rPr>
                        <a:t>24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>
                          <a:effectLst/>
                        </a:rPr>
                        <a:t>09/05/26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2000" dirty="0">
                          <a:effectLst/>
                        </a:rPr>
                        <a:t>Principal component analysis (continued)</a:t>
                      </a:r>
                    </a:p>
                  </a:txBody>
                  <a:tcPr marL="15735" marR="15735" marT="10490" marB="1049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4159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2681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17F53-644A-6224-0371-7C09A9CC7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340D4-4147-4D1F-5D8B-25DFAEB66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Legally available for free download: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https://www.statlearning.com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5C136B-60E1-BB39-ACA0-FF32632340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0496" t="19827" r="13380" b="16782"/>
          <a:stretch/>
        </p:blipFill>
        <p:spPr>
          <a:xfrm>
            <a:off x="7669912" y="0"/>
            <a:ext cx="45220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810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C9AEB-FD05-DA1E-0885-A7A85DAC3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dirty="0"/>
              <a:t>Additional reference	s </a:t>
            </a:r>
            <a:r>
              <a:rPr lang="en-US" sz="2800" dirty="0"/>
              <a:t>(also legally downloadable for free)</a:t>
            </a:r>
            <a:endParaRPr lang="en-US" dirty="0"/>
          </a:p>
        </p:txBody>
      </p:sp>
      <p:pic>
        <p:nvPicPr>
          <p:cNvPr id="1026" name="Picture 2" descr="The Elements Of Statistical Learning Book at ₹ 1000/piece | Reading Book in  New Delhi | ID: 15322044191">
            <a:extLst>
              <a:ext uri="{FF2B5EF4-FFF2-40B4-BE49-F238E27FC236}">
                <a16:creationId xmlns:a16="http://schemas.microsoft.com/office/drawing/2014/main" id="{C916D1E7-8C21-880D-9852-4AA8E73E90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17" r="17035"/>
          <a:stretch/>
        </p:blipFill>
        <p:spPr bwMode="auto">
          <a:xfrm>
            <a:off x="5136790" y="1392392"/>
            <a:ext cx="3348318" cy="5100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>
            <a:extLst>
              <a:ext uri="{FF2B5EF4-FFF2-40B4-BE49-F238E27FC236}">
                <a16:creationId xmlns:a16="http://schemas.microsoft.com/office/drawing/2014/main" id="{F4C15BCF-8C85-2609-2399-B1E214A3A9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24500" y="2571750"/>
            <a:ext cx="11430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 descr="Pattern Recognition and Machine Learning (Information Science and Statistics)">
            <a:extLst>
              <a:ext uri="{FF2B5EF4-FFF2-40B4-BE49-F238E27FC236}">
                <a16:creationId xmlns:a16="http://schemas.microsoft.com/office/drawing/2014/main" id="{1EA3CA62-49DE-8D45-CD8E-EEF495410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92392"/>
            <a:ext cx="3760694" cy="5085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A0A499-9D34-0C9F-D32F-F2338E6B2690}"/>
              </a:ext>
            </a:extLst>
          </p:cNvPr>
          <p:cNvSpPr txBox="1"/>
          <p:nvPr/>
        </p:nvSpPr>
        <p:spPr>
          <a:xfrm>
            <a:off x="2460303" y="6492875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link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C80CE6-7AB9-4E25-9AB9-98DDA0C68851}"/>
              </a:ext>
            </a:extLst>
          </p:cNvPr>
          <p:cNvSpPr txBox="1"/>
          <p:nvPr/>
        </p:nvSpPr>
        <p:spPr>
          <a:xfrm>
            <a:off x="6552705" y="6488668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5"/>
              </a:rPr>
              <a:t>link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9449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1D439-4C90-464F-A31E-426D9AD54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7353A-D128-AE47-A4F8-B048DF775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IN" dirty="0"/>
          </a:p>
          <a:p>
            <a:pPr lvl="0"/>
            <a:r>
              <a:rPr lang="en-IN" dirty="0"/>
              <a:t>Quizzes (2) – 20% (one in each half of the semester)</a:t>
            </a:r>
          </a:p>
          <a:p>
            <a:pPr lvl="0"/>
            <a:r>
              <a:rPr lang="en-IN" dirty="0"/>
              <a:t>Assignments – 20%</a:t>
            </a:r>
          </a:p>
          <a:p>
            <a:pPr lvl="0"/>
            <a:r>
              <a:rPr lang="en-IN" dirty="0"/>
              <a:t>Mid-term exam – 20% </a:t>
            </a:r>
          </a:p>
          <a:p>
            <a:pPr lvl="0"/>
            <a:r>
              <a:rPr lang="en-IN" dirty="0"/>
              <a:t>End-term exam – 40%</a:t>
            </a:r>
          </a:p>
          <a:p>
            <a:pPr marL="0" lv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0392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1D439-4C90-464F-A31E-426D9AD54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Course guidelines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7353A-D128-AE47-A4F8-B048DF775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IN" dirty="0"/>
              <a:t>Attendance policy: 80% minimum attendance mandatory</a:t>
            </a:r>
          </a:p>
          <a:p>
            <a:r>
              <a:rPr lang="en-IN" dirty="0"/>
              <a:t>Attending lectures live is </a:t>
            </a:r>
            <a:r>
              <a:rPr lang="en-IN" b="1" i="1" dirty="0"/>
              <a:t>strongly encouraged</a:t>
            </a:r>
          </a:p>
          <a:p>
            <a:endParaRPr lang="en-IN" b="1" dirty="0"/>
          </a:p>
          <a:p>
            <a:r>
              <a:rPr lang="en-IN" dirty="0"/>
              <a:t>Expectation is that you spend 3 hours per week on this course (not counting live classes and tutorials)</a:t>
            </a:r>
          </a:p>
          <a:p>
            <a:endParaRPr lang="en-IN" b="1" dirty="0"/>
          </a:p>
          <a:p>
            <a:r>
              <a:rPr lang="en-IN" dirty="0"/>
              <a:t>Passing the course requires scoring &gt; 40% on the end-semester exam</a:t>
            </a:r>
          </a:p>
          <a:p>
            <a:endParaRPr lang="en-IN" dirty="0"/>
          </a:p>
          <a:p>
            <a:r>
              <a:rPr lang="en-IN" dirty="0"/>
              <a:t>End-semester exam in person at IIT Bombay</a:t>
            </a: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6265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CADF-0E65-C77B-A195-A237BD88C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supervised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88AC5E3-39D5-D3F1-FF70-BA7801BF37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603375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lvl="1">
                  <a:buFont typeface="Wingdings" pitchFamily="2" charset="2"/>
                  <a:buChar char="Ø"/>
                </a:pPr>
                <a:r>
                  <a:rPr lang="en-US" sz="2800" dirty="0"/>
                  <a:t>Given: </a:t>
                </a:r>
                <a:r>
                  <a:rPr lang="en-US" sz="2800" b="1" dirty="0"/>
                  <a:t>training data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),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), ...,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)</a:t>
                </a:r>
              </a:p>
              <a:p>
                <a:pPr marL="914400" lvl="2" indent="0">
                  <a:buNone/>
                </a:pPr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88AC5E3-39D5-D3F1-FF70-BA7801BF37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6033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E9BBDC9-DC3A-82BE-11F5-3090299D748D}"/>
              </a:ext>
            </a:extLst>
          </p:cNvPr>
          <p:cNvCxnSpPr>
            <a:cxnSpLocks/>
          </p:cNvCxnSpPr>
          <p:nvPr/>
        </p:nvCxnSpPr>
        <p:spPr>
          <a:xfrm>
            <a:off x="5477741" y="2800155"/>
            <a:ext cx="770659" cy="936427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0E5C51E-7241-07C5-93EA-AB68C83F9E03}"/>
                  </a:ext>
                </a:extLst>
              </p:cNvPr>
              <p:cNvSpPr txBox="1"/>
              <p:nvPr/>
            </p:nvSpPr>
            <p:spPr>
              <a:xfrm>
                <a:off x="6403413" y="1656154"/>
                <a:ext cx="5392822" cy="9541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i="1" dirty="0"/>
                  <a:t>prediction</a:t>
                </a:r>
              </a:p>
              <a:p>
                <a:pPr algn="ctr"/>
                <a:r>
                  <a:rPr lang="en-US" sz="2400" dirty="0"/>
                  <a:t>predict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corresponding to unseen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0E5C51E-7241-07C5-93EA-AB68C83F9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413" y="1656154"/>
                <a:ext cx="5392822" cy="954107"/>
              </a:xfrm>
              <a:prstGeom prst="rect">
                <a:avLst/>
              </a:prstGeom>
              <a:blipFill>
                <a:blip r:embed="rId3"/>
                <a:stretch>
                  <a:fillRect t="-7895" b="-1315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588B864-1028-B951-876F-C9E85CF3D443}"/>
              </a:ext>
            </a:extLst>
          </p:cNvPr>
          <p:cNvCxnSpPr>
            <a:cxnSpLocks/>
          </p:cNvCxnSpPr>
          <p:nvPr/>
        </p:nvCxnSpPr>
        <p:spPr>
          <a:xfrm flipV="1">
            <a:off x="5477741" y="2133207"/>
            <a:ext cx="770659" cy="66195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A13AD08-134E-7EFA-5765-8F073CAB19A7}"/>
              </a:ext>
            </a:extLst>
          </p:cNvPr>
          <p:cNvSpPr txBox="1"/>
          <p:nvPr/>
        </p:nvSpPr>
        <p:spPr>
          <a:xfrm>
            <a:off x="6403413" y="3342403"/>
            <a:ext cx="5702846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/>
              <a:t>inference</a:t>
            </a:r>
          </a:p>
          <a:p>
            <a:pPr algn="ctr"/>
            <a:r>
              <a:rPr lang="en-US" sz="2400" dirty="0"/>
              <a:t>infer nature of the input-output relationship</a:t>
            </a:r>
          </a:p>
        </p:txBody>
      </p:sp>
    </p:spTree>
    <p:extLst>
      <p:ext uri="{BB962C8B-B14F-4D97-AF65-F5344CB8AC3E}">
        <p14:creationId xmlns:p14="http://schemas.microsoft.com/office/powerpoint/2010/main" val="2846639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CADF-0E65-C77B-A195-A237BD88C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supervised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88AC5E3-39D5-D3F1-FF70-BA7801BF37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603375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lvl="1">
                  <a:buFont typeface="Wingdings" pitchFamily="2" charset="2"/>
                  <a:buChar char="Ø"/>
                </a:pPr>
                <a:r>
                  <a:rPr lang="en-US" sz="2800" dirty="0"/>
                  <a:t>Given: </a:t>
                </a:r>
                <a:r>
                  <a:rPr lang="en-US" sz="2800" b="1" dirty="0"/>
                  <a:t>training data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),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), ...,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)</a:t>
                </a:r>
              </a:p>
              <a:p>
                <a:pPr marL="914400" lvl="2" indent="0">
                  <a:buNone/>
                </a:pPr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88AC5E3-39D5-D3F1-FF70-BA7801BF37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6033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E9BBDC9-DC3A-82BE-11F5-3090299D748D}"/>
              </a:ext>
            </a:extLst>
          </p:cNvPr>
          <p:cNvCxnSpPr>
            <a:cxnSpLocks/>
          </p:cNvCxnSpPr>
          <p:nvPr/>
        </p:nvCxnSpPr>
        <p:spPr>
          <a:xfrm>
            <a:off x="5477741" y="2800155"/>
            <a:ext cx="770659" cy="936427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0E5C51E-7241-07C5-93EA-AB68C83F9E03}"/>
                  </a:ext>
                </a:extLst>
              </p:cNvPr>
              <p:cNvSpPr txBox="1"/>
              <p:nvPr/>
            </p:nvSpPr>
            <p:spPr>
              <a:xfrm>
                <a:off x="6403413" y="1656154"/>
                <a:ext cx="5392822" cy="9541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i="1" dirty="0"/>
                  <a:t>prediction</a:t>
                </a:r>
              </a:p>
              <a:p>
                <a:pPr algn="ctr"/>
                <a:r>
                  <a:rPr lang="en-US" sz="2400" dirty="0"/>
                  <a:t>predict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corresponding to unseen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0E5C51E-7241-07C5-93EA-AB68C83F9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413" y="1656154"/>
                <a:ext cx="5392822" cy="954107"/>
              </a:xfrm>
              <a:prstGeom prst="rect">
                <a:avLst/>
              </a:prstGeom>
              <a:blipFill>
                <a:blip r:embed="rId3"/>
                <a:stretch>
                  <a:fillRect t="-7895" b="-1315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588B864-1028-B951-876F-C9E85CF3D443}"/>
              </a:ext>
            </a:extLst>
          </p:cNvPr>
          <p:cNvCxnSpPr>
            <a:cxnSpLocks/>
          </p:cNvCxnSpPr>
          <p:nvPr/>
        </p:nvCxnSpPr>
        <p:spPr>
          <a:xfrm flipV="1">
            <a:off x="5477741" y="2133207"/>
            <a:ext cx="770659" cy="66195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A13AD08-134E-7EFA-5765-8F073CAB19A7}"/>
              </a:ext>
            </a:extLst>
          </p:cNvPr>
          <p:cNvSpPr txBox="1"/>
          <p:nvPr/>
        </p:nvSpPr>
        <p:spPr>
          <a:xfrm>
            <a:off x="6403413" y="3342403"/>
            <a:ext cx="5702846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/>
              <a:t>inference</a:t>
            </a:r>
          </a:p>
          <a:p>
            <a:pPr algn="ctr"/>
            <a:r>
              <a:rPr lang="en-US" sz="2400" dirty="0"/>
              <a:t>infer nature of the input-output relationship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2850B2-C31B-1F96-5ADF-F4F8C3890DF0}"/>
              </a:ext>
            </a:extLst>
          </p:cNvPr>
          <p:cNvSpPr txBox="1"/>
          <p:nvPr/>
        </p:nvSpPr>
        <p:spPr>
          <a:xfrm>
            <a:off x="5361484" y="4464084"/>
            <a:ext cx="69830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Ex: Does a certain input feature influence output?</a:t>
            </a:r>
          </a:p>
          <a:p>
            <a:r>
              <a:rPr lang="en-US" sz="2400" dirty="0">
                <a:latin typeface="Comic Sans MS" panose="030F0902030302020204" pitchFamily="66" charset="0"/>
              </a:rPr>
              <a:t>Does gender influence loan default probability?</a:t>
            </a:r>
          </a:p>
        </p:txBody>
      </p:sp>
    </p:spTree>
    <p:extLst>
      <p:ext uri="{BB962C8B-B14F-4D97-AF65-F5344CB8AC3E}">
        <p14:creationId xmlns:p14="http://schemas.microsoft.com/office/powerpoint/2010/main" val="24666544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CADF-0E65-C77B-A195-A237BD88C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supervised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88AC5E3-39D5-D3F1-FF70-BA7801BF37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603375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lvl="1">
                  <a:buFont typeface="Wingdings" pitchFamily="2" charset="2"/>
                  <a:buChar char="Ø"/>
                </a:pPr>
                <a:r>
                  <a:rPr lang="en-US" sz="2800" dirty="0"/>
                  <a:t>Given: </a:t>
                </a:r>
                <a:r>
                  <a:rPr lang="en-US" sz="2800" b="1" dirty="0"/>
                  <a:t>training data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),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), ...,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)</a:t>
                </a:r>
              </a:p>
              <a:p>
                <a:pPr marL="914400" lvl="2" indent="0">
                  <a:buNone/>
                </a:pPr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88AC5E3-39D5-D3F1-FF70-BA7801BF37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6033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62287FDF-D587-58FA-3ABA-E3205F5AF55C}"/>
              </a:ext>
            </a:extLst>
          </p:cNvPr>
          <p:cNvGrpSpPr/>
          <p:nvPr/>
        </p:nvGrpSpPr>
        <p:grpSpPr>
          <a:xfrm>
            <a:off x="2050397" y="3117273"/>
            <a:ext cx="9225840" cy="1850816"/>
            <a:chOff x="2050397" y="3117273"/>
            <a:chExt cx="9225840" cy="18508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39A70D0-E88D-6AA1-13F2-DEBD8EFF1A28}"/>
                    </a:ext>
                  </a:extLst>
                </p:cNvPr>
                <p:cNvSpPr txBox="1"/>
                <p:nvPr/>
              </p:nvSpPr>
              <p:spPr>
                <a:xfrm>
                  <a:off x="2452026" y="3761220"/>
                  <a:ext cx="8824211" cy="120686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0" dirty="0">
                      <a:solidFill>
                        <a:srgbClr val="FF0000"/>
                      </a:solidFill>
                      <a:ea typeface="Cambria Math" panose="02040503050406030204" pitchFamily="18" charset="0"/>
                    </a:rPr>
                    <a:t>lie in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a14:m>
                  <a:endParaRPr lang="en-US" sz="2400" dirty="0">
                    <a:solidFill>
                      <a:srgbClr val="FF0000"/>
                    </a:solidFill>
                  </a:endParaRPr>
                </a:p>
                <a:p>
                  <a:r>
                    <a:rPr lang="en-US" sz="2400" dirty="0">
                      <a:solidFill>
                        <a:srgbClr val="FF0000"/>
                      </a:solidFill>
                    </a:rPr>
                    <a:t>Example: </a:t>
                  </a:r>
                </a:p>
                <a:p>
                  <a:r>
                    <a:rPr lang="en-US" sz="2400" dirty="0">
                      <a:solidFill>
                        <a:srgbClr val="FF0000"/>
                      </a:solidFill>
                    </a:rPr>
                    <a:t>components called inputs/predictors/features/independent variables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39A70D0-E88D-6AA1-13F2-DEBD8EFF1A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2026" y="3761220"/>
                  <a:ext cx="8824211" cy="1206869"/>
                </a:xfrm>
                <a:prstGeom prst="rect">
                  <a:avLst/>
                </a:prstGeom>
                <a:blipFill>
                  <a:blip r:embed="rId3"/>
                  <a:stretch>
                    <a:fillRect l="-1004" t="-3125" b="-104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7EC5D91-ADB9-CE63-A59A-FE9D4B442729}"/>
                </a:ext>
              </a:extLst>
            </p:cNvPr>
            <p:cNvSpPr/>
            <p:nvPr/>
          </p:nvSpPr>
          <p:spPr>
            <a:xfrm>
              <a:off x="2050397" y="3117273"/>
              <a:ext cx="360294" cy="872836"/>
            </a:xfrm>
            <a:custGeom>
              <a:avLst/>
              <a:gdLst>
                <a:gd name="connsiteX0" fmla="*/ 41639 w 360294"/>
                <a:gd name="connsiteY0" fmla="*/ 0 h 872836"/>
                <a:gd name="connsiteX1" fmla="*/ 27785 w 360294"/>
                <a:gd name="connsiteY1" fmla="*/ 526472 h 872836"/>
                <a:gd name="connsiteX2" fmla="*/ 360294 w 360294"/>
                <a:gd name="connsiteY2" fmla="*/ 872836 h 872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0294" h="872836">
                  <a:moveTo>
                    <a:pt x="41639" y="0"/>
                  </a:moveTo>
                  <a:cubicBezTo>
                    <a:pt x="8157" y="190499"/>
                    <a:pt x="-25324" y="380999"/>
                    <a:pt x="27785" y="526472"/>
                  </a:cubicBezTo>
                  <a:cubicBezTo>
                    <a:pt x="80894" y="671945"/>
                    <a:pt x="220594" y="772390"/>
                    <a:pt x="360294" y="872836"/>
                  </a:cubicBezTo>
                </a:path>
              </a:pathLst>
            </a:custGeom>
            <a:noFill/>
            <a:ln w="22225">
              <a:solidFill>
                <a:srgbClr val="FF0000"/>
              </a:solidFill>
              <a:tailEnd type="arrow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BD90AFD-86FB-5897-F761-7DF5F8C56F0C}"/>
              </a:ext>
            </a:extLst>
          </p:cNvPr>
          <p:cNvGrpSpPr/>
          <p:nvPr/>
        </p:nvGrpSpPr>
        <p:grpSpPr>
          <a:xfrm>
            <a:off x="187036" y="4996385"/>
            <a:ext cx="12004964" cy="1837115"/>
            <a:chOff x="187036" y="4996385"/>
            <a:chExt cx="12004964" cy="183711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D423D06-770B-29A1-2C46-07110C72E7C7}"/>
                </a:ext>
              </a:extLst>
            </p:cNvPr>
            <p:cNvSpPr txBox="1"/>
            <p:nvPr/>
          </p:nvSpPr>
          <p:spPr>
            <a:xfrm>
              <a:off x="187036" y="5557494"/>
              <a:ext cx="856176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Q: What is the input in the MNIST digit recognition task?  </a:t>
              </a:r>
            </a:p>
          </p:txBody>
        </p:sp>
        <p:pic>
          <p:nvPicPr>
            <p:cNvPr id="10" name="Picture 2" descr="MNIST database - Wikipedia">
              <a:extLst>
                <a:ext uri="{FF2B5EF4-FFF2-40B4-BE49-F238E27FC236}">
                  <a16:creationId xmlns:a16="http://schemas.microsoft.com/office/drawing/2014/main" id="{12339C1B-048C-CC85-5498-02402E9D02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89508" y="4996385"/>
              <a:ext cx="3702492" cy="18371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51540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CADF-0E65-C77B-A195-A237BD88C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supervised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88AC5E3-39D5-D3F1-FF70-BA7801BF37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603375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lvl="1">
                  <a:buFont typeface="Wingdings" pitchFamily="2" charset="2"/>
                  <a:buChar char="Ø"/>
                </a:pPr>
                <a:r>
                  <a:rPr lang="en-US" sz="2800" dirty="0"/>
                  <a:t>Given: </a:t>
                </a:r>
                <a:r>
                  <a:rPr lang="en-US" sz="2800" b="1" dirty="0"/>
                  <a:t>training data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),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), ...,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)</a:t>
                </a:r>
              </a:p>
              <a:p>
                <a:pPr marL="914400" lvl="2" indent="0">
                  <a:buNone/>
                </a:pPr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88AC5E3-39D5-D3F1-FF70-BA7801BF37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6033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62287FDF-D587-58FA-3ABA-E3205F5AF55C}"/>
              </a:ext>
            </a:extLst>
          </p:cNvPr>
          <p:cNvGrpSpPr/>
          <p:nvPr/>
        </p:nvGrpSpPr>
        <p:grpSpPr>
          <a:xfrm>
            <a:off x="2452182" y="3117273"/>
            <a:ext cx="5551437" cy="1474944"/>
            <a:chOff x="2050397" y="3117273"/>
            <a:chExt cx="5551437" cy="147494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39A70D0-E88D-6AA1-13F2-DEBD8EFF1A28}"/>
                </a:ext>
              </a:extLst>
            </p:cNvPr>
            <p:cNvSpPr txBox="1"/>
            <p:nvPr/>
          </p:nvSpPr>
          <p:spPr>
            <a:xfrm>
              <a:off x="2452026" y="3761220"/>
              <a:ext cx="514980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ea typeface="Cambria Math" panose="02040503050406030204" pitchFamily="18" charset="0"/>
                </a:rPr>
                <a:t>one-dimensional for now</a:t>
              </a:r>
            </a:p>
            <a:p>
              <a:r>
                <a:rPr lang="en-US" sz="2400" dirty="0">
                  <a:solidFill>
                    <a:srgbClr val="FF0000"/>
                  </a:solidFill>
                  <a:ea typeface="Cambria Math" panose="02040503050406030204" pitchFamily="18" charset="0"/>
                </a:rPr>
                <a:t>c</a:t>
              </a:r>
              <a:r>
                <a:rPr lang="en-US" sz="2400" b="0" dirty="0">
                  <a:solidFill>
                    <a:srgbClr val="FF0000"/>
                  </a:solidFill>
                  <a:ea typeface="Cambria Math" panose="02040503050406030204" pitchFamily="18" charset="0"/>
                </a:rPr>
                <a:t>alled output/label/dependent variable</a:t>
              </a: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7EC5D91-ADB9-CE63-A59A-FE9D4B442729}"/>
                </a:ext>
              </a:extLst>
            </p:cNvPr>
            <p:cNvSpPr/>
            <p:nvPr/>
          </p:nvSpPr>
          <p:spPr>
            <a:xfrm>
              <a:off x="2050397" y="3117273"/>
              <a:ext cx="360294" cy="872836"/>
            </a:xfrm>
            <a:custGeom>
              <a:avLst/>
              <a:gdLst>
                <a:gd name="connsiteX0" fmla="*/ 41639 w 360294"/>
                <a:gd name="connsiteY0" fmla="*/ 0 h 872836"/>
                <a:gd name="connsiteX1" fmla="*/ 27785 w 360294"/>
                <a:gd name="connsiteY1" fmla="*/ 526472 h 872836"/>
                <a:gd name="connsiteX2" fmla="*/ 360294 w 360294"/>
                <a:gd name="connsiteY2" fmla="*/ 872836 h 872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0294" h="872836">
                  <a:moveTo>
                    <a:pt x="41639" y="0"/>
                  </a:moveTo>
                  <a:cubicBezTo>
                    <a:pt x="8157" y="190499"/>
                    <a:pt x="-25324" y="380999"/>
                    <a:pt x="27785" y="526472"/>
                  </a:cubicBezTo>
                  <a:cubicBezTo>
                    <a:pt x="80894" y="671945"/>
                    <a:pt x="220594" y="772390"/>
                    <a:pt x="360294" y="872836"/>
                  </a:cubicBezTo>
                </a:path>
              </a:pathLst>
            </a:custGeom>
            <a:noFill/>
            <a:ln w="22225">
              <a:solidFill>
                <a:srgbClr val="FF0000"/>
              </a:solidFill>
              <a:tailEnd type="arrow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53095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CADF-0E65-C77B-A195-A237BD88C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supervised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88AC5E3-39D5-D3F1-FF70-BA7801BF37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603375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lvl="1">
                  <a:buFont typeface="Wingdings" pitchFamily="2" charset="2"/>
                  <a:buChar char="Ø"/>
                </a:pPr>
                <a:r>
                  <a:rPr lang="en-US" sz="2800" dirty="0"/>
                  <a:t>Given: </a:t>
                </a:r>
                <a:r>
                  <a:rPr lang="en-US" sz="2800" b="1" dirty="0"/>
                  <a:t>training data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),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), ...,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)</a:t>
                </a:r>
              </a:p>
              <a:p>
                <a:pPr marL="914400" lvl="2" indent="0">
                  <a:buNone/>
                </a:pPr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88AC5E3-39D5-D3F1-FF70-BA7801BF37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6033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ED54B-6C50-0849-9633-606CB13FEA78}"/>
              </a:ext>
            </a:extLst>
          </p:cNvPr>
          <p:cNvSpPr txBox="1">
            <a:spLocks/>
          </p:cNvSpPr>
          <p:nvPr/>
        </p:nvSpPr>
        <p:spPr>
          <a:xfrm>
            <a:off x="838199" y="3709843"/>
            <a:ext cx="11132127" cy="30373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Variables (input and output) can be of different </a:t>
            </a:r>
            <a:r>
              <a:rPr lang="en-US" i="1" dirty="0">
                <a:solidFill>
                  <a:srgbClr val="FF0000"/>
                </a:solidFill>
              </a:rPr>
              <a:t>types</a:t>
            </a:r>
            <a:r>
              <a:rPr lang="en-US" dirty="0"/>
              <a:t>:</a:t>
            </a:r>
          </a:p>
          <a:p>
            <a:r>
              <a:rPr lang="en-US" dirty="0"/>
              <a:t>Quantitative (real valued)</a:t>
            </a:r>
          </a:p>
          <a:p>
            <a:r>
              <a:rPr lang="en-US" dirty="0"/>
              <a:t>Qualitative/categorical/discrete </a:t>
            </a:r>
          </a:p>
          <a:p>
            <a:pPr marL="0" indent="0">
              <a:buNone/>
            </a:pPr>
            <a:r>
              <a:rPr lang="en-US" dirty="0"/>
              <a:t>		(e.g.: 0/1, Cat/Dog/Monkey)</a:t>
            </a:r>
          </a:p>
          <a:p>
            <a:pPr marL="0" indent="0">
              <a:buNone/>
            </a:pPr>
            <a:endParaRPr lang="en-US" dirty="0"/>
          </a:p>
          <a:p>
            <a:pPr marL="914400" lvl="2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603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AC754-AC44-516A-4C3F-AAA8E85B9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8118" y="365125"/>
            <a:ext cx="6975764" cy="1325563"/>
          </a:xfrm>
        </p:spPr>
        <p:txBody>
          <a:bodyPr/>
          <a:lstStyle/>
          <a:p>
            <a:r>
              <a:rPr lang="en-US" dirty="0"/>
              <a:t>Prediction in 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609BC4-C48F-EF5D-53B7-72804AF891EB}"/>
                  </a:ext>
                </a:extLst>
              </p:cNvPr>
              <p:cNvSpPr txBox="1"/>
              <p:nvPr/>
            </p:nvSpPr>
            <p:spPr>
              <a:xfrm>
                <a:off x="335123" y="2515138"/>
                <a:ext cx="5392822" cy="9541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i="1" dirty="0"/>
                  <a:t>regression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is quantitative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609BC4-C48F-EF5D-53B7-72804AF89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23" y="2515138"/>
                <a:ext cx="5392822" cy="954107"/>
              </a:xfrm>
              <a:prstGeom prst="rect">
                <a:avLst/>
              </a:prstGeom>
              <a:blipFill>
                <a:blip r:embed="rId2"/>
                <a:stretch>
                  <a:fillRect t="-6494" b="-1298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9F8E84-D70F-F61D-A058-3686A50A3FF1}"/>
                  </a:ext>
                </a:extLst>
              </p:cNvPr>
              <p:cNvSpPr txBox="1"/>
              <p:nvPr/>
            </p:nvSpPr>
            <p:spPr>
              <a:xfrm>
                <a:off x="6464055" y="2503138"/>
                <a:ext cx="5392822" cy="9541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i="1" dirty="0"/>
                  <a:t>classification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is qualitative/categorical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9F8E84-D70F-F61D-A058-3686A50A3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055" y="2503138"/>
                <a:ext cx="5392822" cy="954107"/>
              </a:xfrm>
              <a:prstGeom prst="rect">
                <a:avLst/>
              </a:prstGeom>
              <a:blipFill>
                <a:blip r:embed="rId3"/>
                <a:stretch>
                  <a:fillRect t="-6494" b="-1298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3212678-E661-42B3-02B6-18C69E669E8A}"/>
              </a:ext>
            </a:extLst>
          </p:cNvPr>
          <p:cNvCxnSpPr>
            <a:cxnSpLocks/>
          </p:cNvCxnSpPr>
          <p:nvPr/>
        </p:nvCxnSpPr>
        <p:spPr>
          <a:xfrm>
            <a:off x="6262255" y="1510145"/>
            <a:ext cx="845127" cy="80356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BAC7C2-CD34-A131-B71F-6E13E598DE19}"/>
              </a:ext>
            </a:extLst>
          </p:cNvPr>
          <p:cNvCxnSpPr>
            <a:cxnSpLocks/>
          </p:cNvCxnSpPr>
          <p:nvPr/>
        </p:nvCxnSpPr>
        <p:spPr>
          <a:xfrm flipH="1">
            <a:off x="5347855" y="1510145"/>
            <a:ext cx="914400" cy="80356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9896E5C-1598-3E68-DC75-40665DC77F7D}"/>
              </a:ext>
            </a:extLst>
          </p:cNvPr>
          <p:cNvSpPr txBox="1"/>
          <p:nvPr/>
        </p:nvSpPr>
        <p:spPr>
          <a:xfrm>
            <a:off x="72049" y="4385908"/>
            <a:ext cx="6226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Ex: loan processing with interest rate o/p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D3D0F-AA72-38D0-047B-BE3538AF8E6F}"/>
              </a:ext>
            </a:extLst>
          </p:cNvPr>
          <p:cNvSpPr txBox="1"/>
          <p:nvPr/>
        </p:nvSpPr>
        <p:spPr>
          <a:xfrm>
            <a:off x="6464055" y="4385908"/>
            <a:ext cx="5367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Ex: loan processing with binary o/p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FF83E58-F9A2-094C-DEEC-D84201A17593}"/>
              </a:ext>
            </a:extLst>
          </p:cNvPr>
          <p:cNvCxnSpPr>
            <a:cxnSpLocks/>
          </p:cNvCxnSpPr>
          <p:nvPr/>
        </p:nvCxnSpPr>
        <p:spPr>
          <a:xfrm>
            <a:off x="6245900" y="2158584"/>
            <a:ext cx="0" cy="2750544"/>
          </a:xfrm>
          <a:prstGeom prst="line">
            <a:avLst/>
          </a:prstGeom>
          <a:ln w="254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F7D2DF6-3FB6-31D6-6F0A-91B85F26B57A}"/>
              </a:ext>
            </a:extLst>
          </p:cNvPr>
          <p:cNvGrpSpPr/>
          <p:nvPr/>
        </p:nvGrpSpPr>
        <p:grpSpPr>
          <a:xfrm>
            <a:off x="591768" y="5326166"/>
            <a:ext cx="10955657" cy="1837115"/>
            <a:chOff x="187036" y="5326166"/>
            <a:chExt cx="10955657" cy="183711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C49F274-968E-D490-E215-EB4B5ACDE1AF}"/>
                </a:ext>
              </a:extLst>
            </p:cNvPr>
            <p:cNvSpPr txBox="1"/>
            <p:nvPr/>
          </p:nvSpPr>
          <p:spPr>
            <a:xfrm>
              <a:off x="187036" y="5557494"/>
              <a:ext cx="736458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Q: Category of the MNIST digit recognition task?  </a:t>
              </a:r>
            </a:p>
          </p:txBody>
        </p:sp>
        <p:pic>
          <p:nvPicPr>
            <p:cNvPr id="14" name="Picture 2" descr="MNIST database - Wikipedia">
              <a:extLst>
                <a:ext uri="{FF2B5EF4-FFF2-40B4-BE49-F238E27FC236}">
                  <a16:creationId xmlns:a16="http://schemas.microsoft.com/office/drawing/2014/main" id="{EADE3B32-FCC6-B453-A078-FE41DABB39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0201" y="5326166"/>
              <a:ext cx="3702492" cy="18371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39921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AC754-AC44-516A-4C3F-AAA8E85B9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8118" y="365125"/>
            <a:ext cx="6975764" cy="1325563"/>
          </a:xfrm>
        </p:spPr>
        <p:txBody>
          <a:bodyPr/>
          <a:lstStyle/>
          <a:p>
            <a:r>
              <a:rPr lang="en-US" dirty="0"/>
              <a:t>Prediction in 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609BC4-C48F-EF5D-53B7-72804AF891EB}"/>
                  </a:ext>
                </a:extLst>
              </p:cNvPr>
              <p:cNvSpPr txBox="1"/>
              <p:nvPr/>
            </p:nvSpPr>
            <p:spPr>
              <a:xfrm>
                <a:off x="335123" y="2515138"/>
                <a:ext cx="5392822" cy="9541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i="1" dirty="0"/>
                  <a:t>regression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is quantitative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609BC4-C48F-EF5D-53B7-72804AF89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23" y="2515138"/>
                <a:ext cx="5392822" cy="954107"/>
              </a:xfrm>
              <a:prstGeom prst="rect">
                <a:avLst/>
              </a:prstGeom>
              <a:blipFill>
                <a:blip r:embed="rId2"/>
                <a:stretch>
                  <a:fillRect t="-6494" b="-1298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9F8E84-D70F-F61D-A058-3686A50A3FF1}"/>
                  </a:ext>
                </a:extLst>
              </p:cNvPr>
              <p:cNvSpPr txBox="1"/>
              <p:nvPr/>
            </p:nvSpPr>
            <p:spPr>
              <a:xfrm>
                <a:off x="6464055" y="2503138"/>
                <a:ext cx="5392822" cy="9541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i="1" dirty="0"/>
                  <a:t>classification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is qualitative/categorical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9F8E84-D70F-F61D-A058-3686A50A3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055" y="2503138"/>
                <a:ext cx="5392822" cy="954107"/>
              </a:xfrm>
              <a:prstGeom prst="rect">
                <a:avLst/>
              </a:prstGeom>
              <a:blipFill>
                <a:blip r:embed="rId3"/>
                <a:stretch>
                  <a:fillRect t="-6494" b="-1298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3212678-E661-42B3-02B6-18C69E669E8A}"/>
              </a:ext>
            </a:extLst>
          </p:cNvPr>
          <p:cNvCxnSpPr>
            <a:cxnSpLocks/>
          </p:cNvCxnSpPr>
          <p:nvPr/>
        </p:nvCxnSpPr>
        <p:spPr>
          <a:xfrm>
            <a:off x="6262255" y="1510145"/>
            <a:ext cx="845127" cy="80356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BAC7C2-CD34-A131-B71F-6E13E598DE19}"/>
              </a:ext>
            </a:extLst>
          </p:cNvPr>
          <p:cNvCxnSpPr>
            <a:cxnSpLocks/>
          </p:cNvCxnSpPr>
          <p:nvPr/>
        </p:nvCxnSpPr>
        <p:spPr>
          <a:xfrm flipH="1">
            <a:off x="5347855" y="1510145"/>
            <a:ext cx="914400" cy="80356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9896E5C-1598-3E68-DC75-40665DC77F7D}"/>
              </a:ext>
            </a:extLst>
          </p:cNvPr>
          <p:cNvSpPr txBox="1"/>
          <p:nvPr/>
        </p:nvSpPr>
        <p:spPr>
          <a:xfrm>
            <a:off x="335123" y="5042294"/>
            <a:ext cx="90916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Different techniques for regression and classification tasks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Will study both as part of this course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71ABC1E-9570-DC7B-1AA3-BC5E3D911C94}"/>
              </a:ext>
            </a:extLst>
          </p:cNvPr>
          <p:cNvCxnSpPr>
            <a:cxnSpLocks/>
          </p:cNvCxnSpPr>
          <p:nvPr/>
        </p:nvCxnSpPr>
        <p:spPr>
          <a:xfrm>
            <a:off x="6245900" y="2158584"/>
            <a:ext cx="0" cy="2750544"/>
          </a:xfrm>
          <a:prstGeom prst="line">
            <a:avLst/>
          </a:prstGeom>
          <a:ln w="254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91407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D4EF7D-0B97-D7FE-F867-F7739108CAA9}"/>
              </a:ext>
            </a:extLst>
          </p:cNvPr>
          <p:cNvSpPr txBox="1"/>
          <p:nvPr/>
        </p:nvSpPr>
        <p:spPr>
          <a:xfrm>
            <a:off x="5156393" y="1247343"/>
            <a:ext cx="247984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Machine Learning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309019-FA55-95C6-662F-856874DF0C0A}"/>
              </a:ext>
            </a:extLst>
          </p:cNvPr>
          <p:cNvSpPr txBox="1"/>
          <p:nvPr/>
        </p:nvSpPr>
        <p:spPr>
          <a:xfrm>
            <a:off x="1542737" y="2605517"/>
            <a:ext cx="264655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Supervised learning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D63E67-5A27-D86D-F429-27BDDCC863E2}"/>
              </a:ext>
            </a:extLst>
          </p:cNvPr>
          <p:cNvSpPr txBox="1"/>
          <p:nvPr/>
        </p:nvSpPr>
        <p:spPr>
          <a:xfrm>
            <a:off x="4903921" y="2605519"/>
            <a:ext cx="298479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Unsupervised learning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9C8B77-C4B2-6EC0-7308-4CCA6D9D69EC}"/>
              </a:ext>
            </a:extLst>
          </p:cNvPr>
          <p:cNvSpPr txBox="1"/>
          <p:nvPr/>
        </p:nvSpPr>
        <p:spPr>
          <a:xfrm>
            <a:off x="8603338" y="2606380"/>
            <a:ext cx="311476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Reinforcement learning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0360EB-DE9A-CA52-7118-55A30B7BC5A2}"/>
              </a:ext>
            </a:extLst>
          </p:cNvPr>
          <p:cNvSpPr txBox="1"/>
          <p:nvPr/>
        </p:nvSpPr>
        <p:spPr>
          <a:xfrm>
            <a:off x="1034500" y="3790817"/>
            <a:ext cx="145982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Prediction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3287EB-CD5D-41B8-3B71-EAF408BBEDAD}"/>
              </a:ext>
            </a:extLst>
          </p:cNvPr>
          <p:cNvSpPr txBox="1"/>
          <p:nvPr/>
        </p:nvSpPr>
        <p:spPr>
          <a:xfrm>
            <a:off x="3366659" y="3790817"/>
            <a:ext cx="136537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Inference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268819-B96E-0574-9F9C-D0ED32D3782E}"/>
              </a:ext>
            </a:extLst>
          </p:cNvPr>
          <p:cNvSpPr txBox="1"/>
          <p:nvPr/>
        </p:nvSpPr>
        <p:spPr>
          <a:xfrm>
            <a:off x="175514" y="4976117"/>
            <a:ext cx="153619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Regression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114023-0022-0C3D-2188-E35E35ED81E7}"/>
              </a:ext>
            </a:extLst>
          </p:cNvPr>
          <p:cNvSpPr txBox="1"/>
          <p:nvPr/>
        </p:nvSpPr>
        <p:spPr>
          <a:xfrm>
            <a:off x="2127505" y="4976117"/>
            <a:ext cx="181107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Classification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2DD6CCB-4678-4FD8-342B-B24C680A687E}"/>
              </a:ext>
            </a:extLst>
          </p:cNvPr>
          <p:cNvCxnSpPr/>
          <p:nvPr/>
        </p:nvCxnSpPr>
        <p:spPr>
          <a:xfrm>
            <a:off x="2866016" y="2198395"/>
            <a:ext cx="729470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1BD30A1-A090-BBBB-13BD-F1F3FED4CBB5}"/>
              </a:ext>
            </a:extLst>
          </p:cNvPr>
          <p:cNvCxnSpPr>
            <a:endCxn id="5" idx="0"/>
          </p:cNvCxnSpPr>
          <p:nvPr/>
        </p:nvCxnSpPr>
        <p:spPr>
          <a:xfrm>
            <a:off x="2866016" y="2198395"/>
            <a:ext cx="0" cy="40712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2E64DB8-C640-E37C-00EA-6EB2B66590E4}"/>
              </a:ext>
            </a:extLst>
          </p:cNvPr>
          <p:cNvCxnSpPr>
            <a:endCxn id="6" idx="0"/>
          </p:cNvCxnSpPr>
          <p:nvPr/>
        </p:nvCxnSpPr>
        <p:spPr>
          <a:xfrm>
            <a:off x="6396316" y="2198395"/>
            <a:ext cx="1" cy="40712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B8A465D-DF01-319E-022A-89362E8F1C2D}"/>
              </a:ext>
            </a:extLst>
          </p:cNvPr>
          <p:cNvCxnSpPr>
            <a:endCxn id="7" idx="0"/>
          </p:cNvCxnSpPr>
          <p:nvPr/>
        </p:nvCxnSpPr>
        <p:spPr>
          <a:xfrm>
            <a:off x="10160719" y="2198395"/>
            <a:ext cx="1" cy="4079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5E0F02D-2770-E735-7FC6-068193B3E19B}"/>
              </a:ext>
            </a:extLst>
          </p:cNvPr>
          <p:cNvCxnSpPr>
            <a:stCxn id="4" idx="2"/>
          </p:cNvCxnSpPr>
          <p:nvPr/>
        </p:nvCxnSpPr>
        <p:spPr>
          <a:xfrm>
            <a:off x="6396316" y="1709008"/>
            <a:ext cx="0" cy="4893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8F1DC23-3A15-6958-C0ED-EC3FFE803D55}"/>
              </a:ext>
            </a:extLst>
          </p:cNvPr>
          <p:cNvCxnSpPr>
            <a:cxnSpLocks/>
          </p:cNvCxnSpPr>
          <p:nvPr/>
        </p:nvCxnSpPr>
        <p:spPr>
          <a:xfrm>
            <a:off x="1790244" y="3429000"/>
            <a:ext cx="221753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55BA6E7-C0CD-78B8-D574-8EF718CF0875}"/>
              </a:ext>
            </a:extLst>
          </p:cNvPr>
          <p:cNvCxnSpPr>
            <a:cxnSpLocks/>
          </p:cNvCxnSpPr>
          <p:nvPr/>
        </p:nvCxnSpPr>
        <p:spPr>
          <a:xfrm>
            <a:off x="2891116" y="3080608"/>
            <a:ext cx="0" cy="34839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0AE20BC-5ED5-13F2-82AF-7443B9457119}"/>
              </a:ext>
            </a:extLst>
          </p:cNvPr>
          <p:cNvCxnSpPr>
            <a:cxnSpLocks/>
          </p:cNvCxnSpPr>
          <p:nvPr/>
        </p:nvCxnSpPr>
        <p:spPr>
          <a:xfrm>
            <a:off x="1804100" y="3429000"/>
            <a:ext cx="0" cy="36181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D32C766-0AB3-2FC9-0CA4-D30CDE22F901}"/>
              </a:ext>
            </a:extLst>
          </p:cNvPr>
          <p:cNvCxnSpPr>
            <a:cxnSpLocks/>
          </p:cNvCxnSpPr>
          <p:nvPr/>
        </p:nvCxnSpPr>
        <p:spPr>
          <a:xfrm>
            <a:off x="3993928" y="3429000"/>
            <a:ext cx="0" cy="36181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0BE3D20-BAB1-C46B-1284-BFE293A140B0}"/>
              </a:ext>
            </a:extLst>
          </p:cNvPr>
          <p:cNvCxnSpPr>
            <a:cxnSpLocks/>
          </p:cNvCxnSpPr>
          <p:nvPr/>
        </p:nvCxnSpPr>
        <p:spPr>
          <a:xfrm>
            <a:off x="668025" y="4592786"/>
            <a:ext cx="221753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F407600-14E9-BB41-B487-46DAFCDABB31}"/>
              </a:ext>
            </a:extLst>
          </p:cNvPr>
          <p:cNvCxnSpPr>
            <a:cxnSpLocks/>
          </p:cNvCxnSpPr>
          <p:nvPr/>
        </p:nvCxnSpPr>
        <p:spPr>
          <a:xfrm>
            <a:off x="1768897" y="4244394"/>
            <a:ext cx="0" cy="34839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2968952-AECB-C118-BA05-7010128AC14D}"/>
              </a:ext>
            </a:extLst>
          </p:cNvPr>
          <p:cNvCxnSpPr>
            <a:cxnSpLocks/>
          </p:cNvCxnSpPr>
          <p:nvPr/>
        </p:nvCxnSpPr>
        <p:spPr>
          <a:xfrm>
            <a:off x="681881" y="4592786"/>
            <a:ext cx="0" cy="36181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DCEF34C-2A0D-7568-4EE4-2570FED589FB}"/>
              </a:ext>
            </a:extLst>
          </p:cNvPr>
          <p:cNvCxnSpPr>
            <a:cxnSpLocks/>
          </p:cNvCxnSpPr>
          <p:nvPr/>
        </p:nvCxnSpPr>
        <p:spPr>
          <a:xfrm>
            <a:off x="2871709" y="4592786"/>
            <a:ext cx="0" cy="36181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6555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D4EF7D-0B97-D7FE-F867-F7739108CAA9}"/>
              </a:ext>
            </a:extLst>
          </p:cNvPr>
          <p:cNvSpPr txBox="1"/>
          <p:nvPr/>
        </p:nvSpPr>
        <p:spPr>
          <a:xfrm>
            <a:off x="5156393" y="1247343"/>
            <a:ext cx="247984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Machine Learning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309019-FA55-95C6-662F-856874DF0C0A}"/>
              </a:ext>
            </a:extLst>
          </p:cNvPr>
          <p:cNvSpPr txBox="1"/>
          <p:nvPr/>
        </p:nvSpPr>
        <p:spPr>
          <a:xfrm>
            <a:off x="1542737" y="2605517"/>
            <a:ext cx="264655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Supervised learning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D63E67-5A27-D86D-F429-27BDDCC863E2}"/>
              </a:ext>
            </a:extLst>
          </p:cNvPr>
          <p:cNvSpPr txBox="1"/>
          <p:nvPr/>
        </p:nvSpPr>
        <p:spPr>
          <a:xfrm>
            <a:off x="4903921" y="2605519"/>
            <a:ext cx="298479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Unsupervised learning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9C8B77-C4B2-6EC0-7308-4CCA6D9D69EC}"/>
              </a:ext>
            </a:extLst>
          </p:cNvPr>
          <p:cNvSpPr txBox="1"/>
          <p:nvPr/>
        </p:nvSpPr>
        <p:spPr>
          <a:xfrm>
            <a:off x="8603338" y="2606380"/>
            <a:ext cx="311476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Reinforcement learning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0360EB-DE9A-CA52-7118-55A30B7BC5A2}"/>
              </a:ext>
            </a:extLst>
          </p:cNvPr>
          <p:cNvSpPr txBox="1"/>
          <p:nvPr/>
        </p:nvSpPr>
        <p:spPr>
          <a:xfrm>
            <a:off x="1034500" y="3790817"/>
            <a:ext cx="145982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Prediction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3287EB-CD5D-41B8-3B71-EAF408BBEDAD}"/>
              </a:ext>
            </a:extLst>
          </p:cNvPr>
          <p:cNvSpPr txBox="1"/>
          <p:nvPr/>
        </p:nvSpPr>
        <p:spPr>
          <a:xfrm>
            <a:off x="3366659" y="3790817"/>
            <a:ext cx="136537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Inference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268819-B96E-0574-9F9C-D0ED32D3782E}"/>
              </a:ext>
            </a:extLst>
          </p:cNvPr>
          <p:cNvSpPr txBox="1"/>
          <p:nvPr/>
        </p:nvSpPr>
        <p:spPr>
          <a:xfrm>
            <a:off x="175514" y="4976117"/>
            <a:ext cx="153619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Regression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114023-0022-0C3D-2188-E35E35ED81E7}"/>
              </a:ext>
            </a:extLst>
          </p:cNvPr>
          <p:cNvSpPr txBox="1"/>
          <p:nvPr/>
        </p:nvSpPr>
        <p:spPr>
          <a:xfrm>
            <a:off x="2127505" y="4976117"/>
            <a:ext cx="181107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Classification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2DD6CCB-4678-4FD8-342B-B24C680A687E}"/>
              </a:ext>
            </a:extLst>
          </p:cNvPr>
          <p:cNvCxnSpPr/>
          <p:nvPr/>
        </p:nvCxnSpPr>
        <p:spPr>
          <a:xfrm>
            <a:off x="2866016" y="2198395"/>
            <a:ext cx="729470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1BD30A1-A090-BBBB-13BD-F1F3FED4CBB5}"/>
              </a:ext>
            </a:extLst>
          </p:cNvPr>
          <p:cNvCxnSpPr>
            <a:endCxn id="5" idx="0"/>
          </p:cNvCxnSpPr>
          <p:nvPr/>
        </p:nvCxnSpPr>
        <p:spPr>
          <a:xfrm>
            <a:off x="2866016" y="2198395"/>
            <a:ext cx="0" cy="40712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2E64DB8-C640-E37C-00EA-6EB2B66590E4}"/>
              </a:ext>
            </a:extLst>
          </p:cNvPr>
          <p:cNvCxnSpPr>
            <a:endCxn id="6" idx="0"/>
          </p:cNvCxnSpPr>
          <p:nvPr/>
        </p:nvCxnSpPr>
        <p:spPr>
          <a:xfrm>
            <a:off x="6396316" y="2198395"/>
            <a:ext cx="1" cy="40712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B8A465D-DF01-319E-022A-89362E8F1C2D}"/>
              </a:ext>
            </a:extLst>
          </p:cNvPr>
          <p:cNvCxnSpPr>
            <a:endCxn id="7" idx="0"/>
          </p:cNvCxnSpPr>
          <p:nvPr/>
        </p:nvCxnSpPr>
        <p:spPr>
          <a:xfrm>
            <a:off x="10160719" y="2198395"/>
            <a:ext cx="1" cy="4079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5E0F02D-2770-E735-7FC6-068193B3E19B}"/>
              </a:ext>
            </a:extLst>
          </p:cNvPr>
          <p:cNvCxnSpPr>
            <a:stCxn id="4" idx="2"/>
          </p:cNvCxnSpPr>
          <p:nvPr/>
        </p:nvCxnSpPr>
        <p:spPr>
          <a:xfrm>
            <a:off x="6396316" y="1709008"/>
            <a:ext cx="0" cy="4893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8F1DC23-3A15-6958-C0ED-EC3FFE803D55}"/>
              </a:ext>
            </a:extLst>
          </p:cNvPr>
          <p:cNvCxnSpPr>
            <a:cxnSpLocks/>
          </p:cNvCxnSpPr>
          <p:nvPr/>
        </p:nvCxnSpPr>
        <p:spPr>
          <a:xfrm>
            <a:off x="1790244" y="3429000"/>
            <a:ext cx="221753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55BA6E7-C0CD-78B8-D574-8EF718CF0875}"/>
              </a:ext>
            </a:extLst>
          </p:cNvPr>
          <p:cNvCxnSpPr>
            <a:cxnSpLocks/>
          </p:cNvCxnSpPr>
          <p:nvPr/>
        </p:nvCxnSpPr>
        <p:spPr>
          <a:xfrm>
            <a:off x="2891116" y="3080608"/>
            <a:ext cx="0" cy="34839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0AE20BC-5ED5-13F2-82AF-7443B9457119}"/>
              </a:ext>
            </a:extLst>
          </p:cNvPr>
          <p:cNvCxnSpPr>
            <a:cxnSpLocks/>
          </p:cNvCxnSpPr>
          <p:nvPr/>
        </p:nvCxnSpPr>
        <p:spPr>
          <a:xfrm>
            <a:off x="1804100" y="3429000"/>
            <a:ext cx="0" cy="36181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D32C766-0AB3-2FC9-0CA4-D30CDE22F901}"/>
              </a:ext>
            </a:extLst>
          </p:cNvPr>
          <p:cNvCxnSpPr>
            <a:cxnSpLocks/>
          </p:cNvCxnSpPr>
          <p:nvPr/>
        </p:nvCxnSpPr>
        <p:spPr>
          <a:xfrm>
            <a:off x="3993928" y="3429000"/>
            <a:ext cx="0" cy="36181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0BE3D20-BAB1-C46B-1284-BFE293A140B0}"/>
              </a:ext>
            </a:extLst>
          </p:cNvPr>
          <p:cNvCxnSpPr>
            <a:cxnSpLocks/>
          </p:cNvCxnSpPr>
          <p:nvPr/>
        </p:nvCxnSpPr>
        <p:spPr>
          <a:xfrm>
            <a:off x="668025" y="4592786"/>
            <a:ext cx="221753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F407600-14E9-BB41-B487-46DAFCDABB31}"/>
              </a:ext>
            </a:extLst>
          </p:cNvPr>
          <p:cNvCxnSpPr>
            <a:cxnSpLocks/>
          </p:cNvCxnSpPr>
          <p:nvPr/>
        </p:nvCxnSpPr>
        <p:spPr>
          <a:xfrm>
            <a:off x="1768897" y="4244394"/>
            <a:ext cx="0" cy="34839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2968952-AECB-C118-BA05-7010128AC14D}"/>
              </a:ext>
            </a:extLst>
          </p:cNvPr>
          <p:cNvCxnSpPr>
            <a:cxnSpLocks/>
          </p:cNvCxnSpPr>
          <p:nvPr/>
        </p:nvCxnSpPr>
        <p:spPr>
          <a:xfrm>
            <a:off x="681881" y="4592786"/>
            <a:ext cx="0" cy="36181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DCEF34C-2A0D-7568-4EE4-2570FED589FB}"/>
              </a:ext>
            </a:extLst>
          </p:cNvPr>
          <p:cNvCxnSpPr>
            <a:cxnSpLocks/>
          </p:cNvCxnSpPr>
          <p:nvPr/>
        </p:nvCxnSpPr>
        <p:spPr>
          <a:xfrm>
            <a:off x="2871709" y="4592786"/>
            <a:ext cx="0" cy="36181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0AD15EA-CF1E-87F7-8468-98C92B1FEDE0}"/>
              </a:ext>
            </a:extLst>
          </p:cNvPr>
          <p:cNvGrpSpPr/>
          <p:nvPr/>
        </p:nvGrpSpPr>
        <p:grpSpPr>
          <a:xfrm>
            <a:off x="-578118" y="284448"/>
            <a:ext cx="9077517" cy="5985164"/>
            <a:chOff x="-578118" y="284448"/>
            <a:chExt cx="9077517" cy="5985164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9EBC0C84-2E42-2B5F-8D06-982E764948A2}"/>
                </a:ext>
              </a:extLst>
            </p:cNvPr>
            <p:cNvSpPr/>
            <p:nvPr/>
          </p:nvSpPr>
          <p:spPr>
            <a:xfrm rot="20179884">
              <a:off x="-578118" y="284448"/>
              <a:ext cx="9077517" cy="5985164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B7C5FC2-CC45-C7B2-9C38-C061D9E70524}"/>
                </a:ext>
              </a:extLst>
            </p:cNvPr>
            <p:cNvSpPr txBox="1"/>
            <p:nvPr/>
          </p:nvSpPr>
          <p:spPr>
            <a:xfrm>
              <a:off x="6396316" y="5379824"/>
              <a:ext cx="15361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rgbClr val="FF0000"/>
                  </a:solidFill>
                </a:rPr>
                <a:t>this course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0557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2EBCD4C-CCB1-5BD9-3B57-11CC68CCFC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561" y="-387943"/>
            <a:ext cx="10253923" cy="72459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F329EFD-5444-F59C-FD9C-2A5C9BC0CF41}"/>
              </a:ext>
            </a:extLst>
          </p:cNvPr>
          <p:cNvSpPr txBox="1"/>
          <p:nvPr/>
        </p:nvSpPr>
        <p:spPr>
          <a:xfrm>
            <a:off x="8588065" y="6264244"/>
            <a:ext cx="36039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* courtesy: Prof. Amit Sethi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DCCB673-16E4-DCFE-BDF9-10982EDD027B}"/>
              </a:ext>
            </a:extLst>
          </p:cNvPr>
          <p:cNvGrpSpPr/>
          <p:nvPr/>
        </p:nvGrpSpPr>
        <p:grpSpPr>
          <a:xfrm>
            <a:off x="828803" y="1572323"/>
            <a:ext cx="10993439" cy="2952531"/>
            <a:chOff x="828803" y="1572323"/>
            <a:chExt cx="10993439" cy="295253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AB5219F-89EC-7485-3210-A8C8C303223D}"/>
                </a:ext>
              </a:extLst>
            </p:cNvPr>
            <p:cNvSpPr txBox="1"/>
            <p:nvPr/>
          </p:nvSpPr>
          <p:spPr>
            <a:xfrm>
              <a:off x="10434298" y="1572323"/>
              <a:ext cx="13879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rgbClr val="FF0000"/>
                  </a:solidFill>
                </a:rPr>
                <a:t>next class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725FE59-A265-BCC0-DA1E-311CF7C446B4}"/>
                </a:ext>
              </a:extLst>
            </p:cNvPr>
            <p:cNvSpPr txBox="1"/>
            <p:nvPr/>
          </p:nvSpPr>
          <p:spPr>
            <a:xfrm>
              <a:off x="828803" y="4063189"/>
              <a:ext cx="13879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rgbClr val="FF0000"/>
                  </a:solidFill>
                </a:rPr>
                <a:t>next class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8971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C9E4D-E0E4-B251-BA1E-8F6213199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interesting videos</a:t>
            </a:r>
          </a:p>
        </p:txBody>
      </p:sp>
      <p:pic>
        <p:nvPicPr>
          <p:cNvPr id="4" name="Online Media 3" descr="The Epistemology of Deep Learning - Yann LeCun">
            <a:hlinkClick r:id="" action="ppaction://media"/>
            <a:extLst>
              <a:ext uri="{FF2B5EF4-FFF2-40B4-BE49-F238E27FC236}">
                <a16:creationId xmlns:a16="http://schemas.microsoft.com/office/drawing/2014/main" id="{8F5353E4-E105-B6CB-36AB-3828E148E7B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6313" y="1825625"/>
            <a:ext cx="7700962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16D327-FFB2-069E-538C-9055A881D642}"/>
              </a:ext>
            </a:extLst>
          </p:cNvPr>
          <p:cNvSpPr txBox="1"/>
          <p:nvPr/>
        </p:nvSpPr>
        <p:spPr>
          <a:xfrm>
            <a:off x="3431648" y="6424626"/>
            <a:ext cx="5328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0" u="none" strike="noStrike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The Epistemology of Deep Learning - Yann </a:t>
            </a:r>
            <a:r>
              <a:rPr lang="en-IN" b="1" i="0" u="none" strike="noStrike" dirty="0" err="1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LeCun</a:t>
            </a:r>
            <a:endParaRPr lang="en-IN" b="1" i="0" u="none" strike="noStrike" dirty="0">
              <a:solidFill>
                <a:srgbClr val="0F0F0F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45795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24A29-E262-9F3D-8D54-018694A5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interesting videos</a:t>
            </a:r>
          </a:p>
        </p:txBody>
      </p:sp>
      <p:pic>
        <p:nvPicPr>
          <p:cNvPr id="4" name="Online Media 3" descr="AI: What Could Go Wrong? with Geoffrey Hinton | The Weekly Show with Jon Stewart">
            <a:hlinkClick r:id="" action="ppaction://media"/>
            <a:extLst>
              <a:ext uri="{FF2B5EF4-FFF2-40B4-BE49-F238E27FC236}">
                <a16:creationId xmlns:a16="http://schemas.microsoft.com/office/drawing/2014/main" id="{C76ACF03-8028-9FA1-7EF2-CD39779D7E02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6313" y="1825625"/>
            <a:ext cx="7700962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029774-FD4F-FFA1-2979-4C8A91C46BDA}"/>
              </a:ext>
            </a:extLst>
          </p:cNvPr>
          <p:cNvSpPr txBox="1"/>
          <p:nvPr/>
        </p:nvSpPr>
        <p:spPr>
          <a:xfrm>
            <a:off x="1625064" y="6391173"/>
            <a:ext cx="8941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b="1" i="0" u="none" strike="noStrike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AI: What Could Go Wrong? with Geoffrey Hinton | The Weekly Show with Jon Stewart</a:t>
            </a:r>
          </a:p>
        </p:txBody>
      </p:sp>
    </p:spTree>
    <p:extLst>
      <p:ext uri="{BB962C8B-B14F-4D97-AF65-F5344CB8AC3E}">
        <p14:creationId xmlns:p14="http://schemas.microsoft.com/office/powerpoint/2010/main" val="373243900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DD754-C41F-D46D-A4B7-FE1B15D95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interesting videos</a:t>
            </a:r>
          </a:p>
        </p:txBody>
      </p:sp>
      <p:pic>
        <p:nvPicPr>
          <p:cNvPr id="4" name="Online Media 3" descr="The Catastrophic Risks of AI — and a Safer Path | Yoshua Bengio | TED">
            <a:hlinkClick r:id="" action="ppaction://media"/>
            <a:extLst>
              <a:ext uri="{FF2B5EF4-FFF2-40B4-BE49-F238E27FC236}">
                <a16:creationId xmlns:a16="http://schemas.microsoft.com/office/drawing/2014/main" id="{933B264E-D6E2-D5F0-AD6B-AF03620B0321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6313" y="1825625"/>
            <a:ext cx="7700962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62CB80-DE56-F3FF-7B7C-9F66D4DD5AF1}"/>
              </a:ext>
            </a:extLst>
          </p:cNvPr>
          <p:cNvSpPr txBox="1"/>
          <p:nvPr/>
        </p:nvSpPr>
        <p:spPr>
          <a:xfrm>
            <a:off x="2353629" y="6348219"/>
            <a:ext cx="7484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b="1" i="0" u="none" strike="noStrike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The Catastrophic Risks of AI — and a Safer Path | </a:t>
            </a:r>
            <a:r>
              <a:rPr lang="en-IN" b="1" i="0" u="none" strike="noStrike" dirty="0" err="1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Yoshua</a:t>
            </a:r>
            <a:r>
              <a:rPr lang="en-IN" b="1" i="0" u="none" strike="noStrike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IN" b="1" i="0" u="none" strike="noStrike" dirty="0" err="1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Bengio</a:t>
            </a:r>
            <a:r>
              <a:rPr lang="en-IN" b="1" i="0" u="none" strike="noStrike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 | TED</a:t>
            </a:r>
          </a:p>
        </p:txBody>
      </p:sp>
    </p:spTree>
    <p:extLst>
      <p:ext uri="{BB962C8B-B14F-4D97-AF65-F5344CB8AC3E}">
        <p14:creationId xmlns:p14="http://schemas.microsoft.com/office/powerpoint/2010/main" val="932711010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15754</TotalTime>
  <Words>1426</Words>
  <Application>Microsoft Office PowerPoint</Application>
  <PresentationFormat>Widescreen</PresentationFormat>
  <Paragraphs>319</Paragraphs>
  <Slides>35</Slides>
  <Notes>1</Notes>
  <HiddenSlides>0</HiddenSlides>
  <MMClips>3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Comic Sans MS</vt:lpstr>
      <vt:lpstr>Roboto</vt:lpstr>
      <vt:lpstr>Wingdings</vt:lpstr>
      <vt:lpstr>Office Theme</vt:lpstr>
      <vt:lpstr>Machine Learning ePDG@CMInDS</vt:lpstr>
      <vt:lpstr>Basic definitions</vt:lpstr>
      <vt:lpstr>Basic definitions</vt:lpstr>
      <vt:lpstr>Basic requirement for ML: pattern that can be learned from data</vt:lpstr>
      <vt:lpstr>Which of the following scenarios is/are ML-amenable?</vt:lpstr>
      <vt:lpstr>Three kinds of ML</vt:lpstr>
      <vt:lpstr>Example: handwritten digit recognition</vt:lpstr>
      <vt:lpstr>Example: product marketing</vt:lpstr>
      <vt:lpstr>Example: loan processing</vt:lpstr>
      <vt:lpstr>An example we are all familiar with...</vt:lpstr>
      <vt:lpstr>Three kinds of ML</vt:lpstr>
      <vt:lpstr>Example: market segmentation</vt:lpstr>
      <vt:lpstr>Three kinds of ML</vt:lpstr>
      <vt:lpstr>Three kinds of ML</vt:lpstr>
      <vt:lpstr>Three kinds of ML (summary)</vt:lpstr>
      <vt:lpstr>Course content</vt:lpstr>
      <vt:lpstr>Detailed course plan (first half)</vt:lpstr>
      <vt:lpstr>Detailed course plan (second half) </vt:lpstr>
      <vt:lpstr>Textbook</vt:lpstr>
      <vt:lpstr>Additional reference s (also legally downloadable for free)</vt:lpstr>
      <vt:lpstr>Evaluation</vt:lpstr>
      <vt:lpstr>Course guidelines</vt:lpstr>
      <vt:lpstr>Back to supervised learning</vt:lpstr>
      <vt:lpstr>Back to supervised learning</vt:lpstr>
      <vt:lpstr>Back to supervised learning</vt:lpstr>
      <vt:lpstr>Back to supervised learning</vt:lpstr>
      <vt:lpstr>Back to supervised learning</vt:lpstr>
      <vt:lpstr>Prediction in supervised ML</vt:lpstr>
      <vt:lpstr>Prediction in supervised ML</vt:lpstr>
      <vt:lpstr>PowerPoint Presentation</vt:lpstr>
      <vt:lpstr>PowerPoint Presentation</vt:lpstr>
      <vt:lpstr>PowerPoint Presentation</vt:lpstr>
      <vt:lpstr>Some interesting videos</vt:lpstr>
      <vt:lpstr>Some interesting videos</vt:lpstr>
      <vt:lpstr>Some interesting videos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EE621: Markov chains &amp; Queueing Systems</dc:title>
  <dc:creator>Jayakrishnan Nair</dc:creator>
  <cp:lastModifiedBy>Pravin Patil</cp:lastModifiedBy>
  <cp:revision>33</cp:revision>
  <cp:lastPrinted>2025-01-03T05:45:31Z</cp:lastPrinted>
  <dcterms:created xsi:type="dcterms:W3CDTF">2021-01-07T09:30:03Z</dcterms:created>
  <dcterms:modified xsi:type="dcterms:W3CDTF">2026-03-30T18:04:01Z</dcterms:modified>
</cp:coreProperties>
</file>