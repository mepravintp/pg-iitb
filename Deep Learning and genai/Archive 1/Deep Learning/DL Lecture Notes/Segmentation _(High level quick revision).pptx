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2c549a4d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e2c549a4d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e2c549a4d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e2c549a4d_0_123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e2c549a4d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e2c549a4d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2c549a4d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e2c549a4d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2c549a4d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e2c549a4d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e2c549a4d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e2c549a4d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319478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e319478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319478d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e319478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319478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e319478d5_0_2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319478d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e319478d5_0_7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319478d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e319478d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319478d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e319478d5_0_15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319478d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e319478d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687704" y="231171"/>
            <a:ext cx="73284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192557" y="1451667"/>
            <a:ext cx="4197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687704" y="231171"/>
            <a:ext cx="73284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7" name="Google Shape;137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ctrTitle"/>
          </p:nvPr>
        </p:nvSpPr>
        <p:spPr>
          <a:xfrm>
            <a:off x="1858703" y="145585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</a:t>
            </a:r>
            <a:br>
              <a:rPr lang="en-GB"/>
            </a:br>
            <a:r>
              <a:rPr lang="en-GB"/>
              <a:t>(High level quick revision)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687729" y="457256"/>
            <a:ext cx="4340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The Task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213" y="1862138"/>
            <a:ext cx="2440019" cy="1829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1913" y="1862138"/>
            <a:ext cx="2440019" cy="18299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7"/>
          <p:cNvGrpSpPr/>
          <p:nvPr/>
        </p:nvGrpSpPr>
        <p:grpSpPr>
          <a:xfrm>
            <a:off x="6424613" y="1928813"/>
            <a:ext cx="219075" cy="1065467"/>
            <a:chOff x="8566150" y="2571750"/>
            <a:chExt cx="292100" cy="1420622"/>
          </a:xfrm>
        </p:grpSpPr>
        <p:sp>
          <p:nvSpPr>
            <p:cNvPr id="152" name="Google Shape;152;p17"/>
            <p:cNvSpPr/>
            <p:nvPr/>
          </p:nvSpPr>
          <p:spPr>
            <a:xfrm>
              <a:off x="8566150" y="2571750"/>
              <a:ext cx="292100" cy="292100"/>
            </a:xfrm>
            <a:custGeom>
              <a:rect b="b" l="l" r="r" t="t"/>
              <a:pathLst>
                <a:path extrusionOk="0" h="292100" w="292100">
                  <a:moveTo>
                    <a:pt x="29210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292100" y="292100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2218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8566150" y="2571750"/>
              <a:ext cx="292100" cy="292100"/>
            </a:xfrm>
            <a:custGeom>
              <a:rect b="b" l="l" r="r" t="t"/>
              <a:pathLst>
                <a:path extrusionOk="0" h="292100" w="292100">
                  <a:moveTo>
                    <a:pt x="0" y="292100"/>
                  </a:moveTo>
                  <a:lnTo>
                    <a:pt x="292100" y="292100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92100"/>
                  </a:lnTo>
                  <a:close/>
                </a:path>
              </a:pathLst>
            </a:custGeom>
            <a:noFill/>
            <a:ln cap="flat" cmpd="sng" w="952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8566150" y="2863850"/>
              <a:ext cx="292100" cy="292100"/>
            </a:xfrm>
            <a:custGeom>
              <a:rect b="b" l="l" r="r" t="t"/>
              <a:pathLst>
                <a:path extrusionOk="0" h="292100" w="292100">
                  <a:moveTo>
                    <a:pt x="29210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292100" y="292100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2C1F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566150" y="2863850"/>
              <a:ext cx="292100" cy="292100"/>
            </a:xfrm>
            <a:custGeom>
              <a:rect b="b" l="l" r="r" t="t"/>
              <a:pathLst>
                <a:path extrusionOk="0" h="292100" w="292100">
                  <a:moveTo>
                    <a:pt x="0" y="292100"/>
                  </a:moveTo>
                  <a:lnTo>
                    <a:pt x="292100" y="292100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92100"/>
                  </a:lnTo>
                  <a:close/>
                </a:path>
              </a:pathLst>
            </a:custGeom>
            <a:noFill/>
            <a:ln cap="flat" cmpd="sng" w="952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8566150" y="3168650"/>
              <a:ext cx="292100" cy="279400"/>
            </a:xfrm>
            <a:custGeom>
              <a:rect b="b" l="l" r="r" t="t"/>
              <a:pathLst>
                <a:path extrusionOk="0" h="279400" w="292100">
                  <a:moveTo>
                    <a:pt x="2921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92100" y="279400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B1FF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8566150" y="3168650"/>
              <a:ext cx="292100" cy="279400"/>
            </a:xfrm>
            <a:custGeom>
              <a:rect b="b" l="l" r="r" t="t"/>
              <a:pathLst>
                <a:path extrusionOk="0" h="279400" w="292100">
                  <a:moveTo>
                    <a:pt x="0" y="279400"/>
                  </a:moveTo>
                  <a:lnTo>
                    <a:pt x="292100" y="279400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flat" cmpd="sng" w="952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8566150" y="3448050"/>
              <a:ext cx="292100" cy="265429"/>
            </a:xfrm>
            <a:custGeom>
              <a:rect b="b" l="l" r="r" t="t"/>
              <a:pathLst>
                <a:path extrusionOk="0" h="265429" w="292100">
                  <a:moveTo>
                    <a:pt x="0" y="264922"/>
                  </a:moveTo>
                  <a:lnTo>
                    <a:pt x="292100" y="264922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64922"/>
                  </a:lnTo>
                  <a:close/>
                </a:path>
              </a:pathLst>
            </a:custGeom>
            <a:solidFill>
              <a:srgbClr val="E7F9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8566150" y="3448050"/>
              <a:ext cx="292100" cy="279400"/>
            </a:xfrm>
            <a:custGeom>
              <a:rect b="b" l="l" r="r" t="t"/>
              <a:pathLst>
                <a:path extrusionOk="0" h="279400" w="292100">
                  <a:moveTo>
                    <a:pt x="0" y="279400"/>
                  </a:moveTo>
                  <a:lnTo>
                    <a:pt x="292100" y="279400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flat" cmpd="sng" w="952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8566150" y="3712972"/>
              <a:ext cx="292100" cy="279400"/>
            </a:xfrm>
            <a:custGeom>
              <a:rect b="b" l="l" r="r" t="t"/>
              <a:pathLst>
                <a:path extrusionOk="0" h="279400" w="292100">
                  <a:moveTo>
                    <a:pt x="2921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92100" y="279400"/>
                  </a:lnTo>
                  <a:lnTo>
                    <a:pt x="2921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8566150" y="3712972"/>
              <a:ext cx="292100" cy="279400"/>
            </a:xfrm>
            <a:custGeom>
              <a:rect b="b" l="l" r="r" t="t"/>
              <a:pathLst>
                <a:path extrusionOk="0" h="279400" w="292100">
                  <a:moveTo>
                    <a:pt x="0" y="279400"/>
                  </a:moveTo>
                  <a:lnTo>
                    <a:pt x="292100" y="279400"/>
                  </a:lnTo>
                  <a:lnTo>
                    <a:pt x="292100" y="0"/>
                  </a:lnTo>
                  <a:lnTo>
                    <a:pt x="0" y="0"/>
                  </a:lnTo>
                  <a:lnTo>
                    <a:pt x="0" y="279400"/>
                  </a:lnTo>
                  <a:close/>
                </a:path>
              </a:pathLst>
            </a:custGeom>
            <a:noFill/>
            <a:ln cap="flat" cmpd="sng" w="952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6779894" y="1880635"/>
            <a:ext cx="561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00">
            <a:spAutoFit/>
          </a:bodyPr>
          <a:lstStyle/>
          <a:p>
            <a:pPr indent="0" lvl="0" marL="12700" marR="0" rtl="0" algn="l">
              <a:lnSpc>
                <a:spcPct val="13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person grass trees motorbike road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354700" y="209100"/>
            <a:ext cx="7505700" cy="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Metrics in Segmentation: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246475" y="848975"/>
            <a:ext cx="8716800" cy="3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How good is our pixel-wise prediction?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69" name="Google Shape;169;p18"/>
          <p:cNvSpPr txBox="1"/>
          <p:nvPr/>
        </p:nvSpPr>
        <p:spPr>
          <a:xfrm>
            <a:off x="386075" y="1285175"/>
            <a:ext cx="3813300" cy="24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500"/>
              <a:t>1. Pixel Classification</a:t>
            </a:r>
            <a:br>
              <a:rPr b="1" lang="en-GB" sz="1500"/>
            </a:br>
            <a:r>
              <a:rPr lang="en-GB" sz="1100"/>
              <a:t>Think of segmentation as:</a:t>
            </a:r>
            <a:r>
              <a:rPr lang="en-GB" sz="1600"/>
              <a:t>→</a:t>
            </a:r>
            <a:r>
              <a:rPr lang="en-GB" sz="1100"/>
              <a:t> A classification problem at </a:t>
            </a:r>
            <a:r>
              <a:rPr b="1" lang="en-GB" sz="1100"/>
              <a:t>pixel level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Example: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Pixel 1 → road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Pixel 2 → car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Pixel 3 → background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/>
              <a:t>So instead of classifying </a:t>
            </a:r>
            <a:r>
              <a:rPr b="1" lang="en-GB" sz="1100"/>
              <a:t>one image</a:t>
            </a:r>
            <a:r>
              <a:rPr lang="en-GB" sz="1100"/>
              <a:t>, we classify </a:t>
            </a:r>
            <a:r>
              <a:rPr b="1" lang="en-GB" sz="1100"/>
              <a:t>thousands/millions of pixels</a:t>
            </a:r>
            <a:endParaRPr b="1" sz="1100"/>
          </a:p>
        </p:txBody>
      </p:sp>
      <p:sp>
        <p:nvSpPr>
          <p:cNvPr id="170" name="Google Shape;170;p18"/>
          <p:cNvSpPr txBox="1"/>
          <p:nvPr/>
        </p:nvSpPr>
        <p:spPr>
          <a:xfrm>
            <a:off x="4614600" y="1285175"/>
            <a:ext cx="3841800" cy="24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2.Intersection over Union (IoU)</a:t>
            </a: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/>
              <a:t>Meaning</a:t>
            </a:r>
            <a:endParaRPr b="1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Intersection</a:t>
            </a:r>
            <a:r>
              <a:rPr lang="en-GB" sz="1100"/>
              <a:t> → Correct prediction (overlap)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Union</a:t>
            </a:r>
            <a:r>
              <a:rPr lang="en-GB" sz="1100"/>
              <a:t> → Total area covered by prediction + ground truth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GB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46475" y="3911000"/>
            <a:ext cx="86514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cannot use direct accuracy formula like </a:t>
            </a:r>
            <a:r>
              <a:rPr b="1"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Accuracy=correct pixels/total pixels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it will create big problem.</a:t>
            </a:r>
            <a:b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 real images:Background pixels → very large (e.g., 90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),Object pixels → very small (e.g., 10%)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Model predicts:Everything as </a:t>
            </a:r>
            <a:r>
              <a:rPr b="1" lang="en-GB" sz="1100"/>
              <a:t>background</a:t>
            </a:r>
            <a:br>
              <a:rPr b="1" lang="en-GB" sz="1100"/>
            </a:br>
            <a:r>
              <a:rPr lang="en-GB" sz="1100"/>
              <a:t>Then:Accuracy = 90% ,But model is </a:t>
            </a:r>
            <a:r>
              <a:rPr b="1" lang="en-GB" sz="1100"/>
              <a:t>useless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425" y="1680125"/>
            <a:ext cx="3296100" cy="8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212325" y="225025"/>
            <a:ext cx="8716800" cy="47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50" y="202675"/>
            <a:ext cx="4566935" cy="4706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4896625" y="987775"/>
            <a:ext cx="39282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FCN (Fully Convolutional Network):</a:t>
            </a:r>
            <a:r>
              <a:rPr lang="en-GB" sz="1100"/>
              <a:t> Look closely at the FCN row. You’ll notice the edges look a bit "blocky" or blurry compared to the Ground Truth. FCN was a pioneer, but it often struggles with fine details.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DeepLab-LargeFOV-denseCRF:</a:t>
            </a:r>
            <a:r>
              <a:rPr lang="en-GB" sz="1100"/>
              <a:t> Notice how this one looks much "sharper" than the standard FCN. The </a:t>
            </a:r>
            <a:r>
              <a:rPr b="1" lang="en-GB" sz="1100"/>
              <a:t>CRF (Conditional Random Field)</a:t>
            </a:r>
            <a:r>
              <a:rPr lang="en-GB" sz="1100"/>
              <a:t> is a post-processing trick used to clean up the edges and make the shapes look more like real objects.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SegNet &amp; DeconvNet:</a:t>
            </a:r>
            <a:r>
              <a:rPr lang="en-GB" sz="1100"/>
              <a:t> These models use "Encoder-Decoder" structures. They try to capture the big picture (Encoder) and then carefully reconstruct the fine details (Decoder).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500" y="206388"/>
            <a:ext cx="5183924" cy="47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24" y="220225"/>
            <a:ext cx="7569475" cy="381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245700" y="3743800"/>
            <a:ext cx="8652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By using a 1 x 1 convolution: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are looking at each "pixel" location across all c channels.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shrink the depth from c down to the exact number of categories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"slice" of this block is like a heat map for a specific class.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75" y="208625"/>
            <a:ext cx="6205825" cy="37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6519050" y="289650"/>
            <a:ext cx="2389500" cy="4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Small image → sees </a:t>
            </a:r>
            <a:r>
              <a:rPr b="1" lang="en-GB" sz="1100"/>
              <a:t>whole scene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Large image → sees </a:t>
            </a:r>
            <a:r>
              <a:rPr b="1" lang="en-GB" sz="1100"/>
              <a:t>fine details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Top (small image)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Sees entire scene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Learns: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Global structure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Object relationships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🟩 Middle (medium image)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Balanced view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Learns: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Mid-level features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🟥 Bottom (large image)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Zoomed-in view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Learns: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Edges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Fine details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212600" y="3914575"/>
            <a:ext cx="63066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Each image scale is passed through a </a:t>
            </a:r>
            <a:r>
              <a:rPr b="1" lang="en-GB" sz="1100"/>
              <a:t>separate CNN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All outputs are:</a:t>
            </a:r>
            <a:r>
              <a:rPr b="1" lang="en-GB" sz="1100"/>
              <a:t>Combined (fused together)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229025" y="209175"/>
            <a:ext cx="6990000" cy="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 segmentation FCN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325" y="845575"/>
            <a:ext cx="5695200" cy="29693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455625" y="3911500"/>
            <a:ext cx="8166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Looking at the blocks in the middle, you see the numbers (96, 256, 384, etc.). These represent the </a:t>
            </a:r>
            <a:r>
              <a:rPr b="1" lang="en-GB" sz="1100"/>
              <a:t>number of filters</a:t>
            </a:r>
            <a:r>
              <a:rPr lang="en-GB" sz="1100"/>
              <a:t> (depth). Notice how the blocks get physically smaller in height and width but deeper in thickness.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See that last thin block with the number </a:t>
            </a:r>
            <a:r>
              <a:rPr b="1" lang="en-GB" sz="1100"/>
              <a:t>21</a:t>
            </a:r>
            <a:r>
              <a:rPr lang="en-GB" sz="1100"/>
              <a:t>?This matches the PASCAL VOC dataset, which has 20 object classes + 1 background class.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583351" y="266325"/>
            <a:ext cx="80763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Combining responses from multiple layers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88" y="1338967"/>
            <a:ext cx="8601075" cy="3614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919" y="200025"/>
            <a:ext cx="8015288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" type="subTitle"/>
          </p:nvPr>
        </p:nvSpPr>
        <p:spPr>
          <a:xfrm>
            <a:off x="263725" y="220000"/>
            <a:ext cx="66198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2500">
                <a:solidFill>
                  <a:schemeClr val="dk2"/>
                </a:solidFill>
              </a:rPr>
              <a:t>Image segmentation - segnet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250" y="996799"/>
            <a:ext cx="6571275" cy="195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0744" y="1042986"/>
            <a:ext cx="1543050" cy="152876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/>
        </p:nvSpPr>
        <p:spPr>
          <a:xfrm>
            <a:off x="293625" y="3113075"/>
            <a:ext cx="8554800" cy="1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SegNet is an </a:t>
            </a:r>
            <a:r>
              <a:rPr b="1" lang="en-GB" sz="1100"/>
              <a:t>encoder–decoder architecture for segmentation</a:t>
            </a:r>
            <a:br>
              <a:rPr b="1" lang="en-GB" sz="1100"/>
            </a:br>
            <a:r>
              <a:rPr lang="en-GB" sz="1100"/>
              <a:t>Main idea:“Downsample using pooling in encoder, and use those same pooling locations to upsample in decoder.</a:t>
            </a:r>
            <a:r>
              <a:rPr lang="en-GB" sz="1100"/>
              <a:t>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SegNet does:</a:t>
            </a:r>
            <a:r>
              <a:rPr b="1" lang="en-GB" sz="1100"/>
              <a:t>Unpooling using stored indices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/>
              <a:t>Important</a:t>
            </a:r>
            <a:br>
              <a:rPr b="1" lang="en-GB" sz="1700"/>
            </a:br>
            <a:r>
              <a:rPr lang="en-GB" sz="1100"/>
              <a:t>Instead of just keeping values, SegNet keeps:</a:t>
            </a:r>
            <a:r>
              <a:rPr b="1" lang="en-GB" sz="1100"/>
              <a:t>“Where the max came from”</a:t>
            </a:r>
            <a:br>
              <a:rPr b="1" lang="en-GB" sz="1100"/>
            </a:br>
            <a:r>
              <a:rPr lang="en-GB" sz="1100"/>
              <a:t>This is called: </a:t>
            </a:r>
            <a:r>
              <a:rPr b="1" lang="en-GB" sz="1100"/>
              <a:t>Pooling indices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41350" y="35050"/>
            <a:ext cx="5233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2"/>
                </a:solidFill>
              </a:rPr>
              <a:t>Deeplab V3: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230" name="Google Shape;2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14" y="864409"/>
            <a:ext cx="8779304" cy="25946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/>
        </p:nvSpPr>
        <p:spPr>
          <a:xfrm>
            <a:off x="0" y="3528850"/>
            <a:ext cx="91053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Deeplab idea :The core idea is:“Use a CNN to get coarse segmentation, then refine it using upsampling and CRF to get sharp boundaries.”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DeepLabV2 → added atrous conv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DeepLabV3 → ASPP (no CRF)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DeepLabV3+ → added decoder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